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a4961423da4e7d" /><Relationship Type="http://schemas.openxmlformats.org/officeDocument/2006/relationships/extended-properties" Target="/docProps/app.xml" Id="R38bf8fa275404162" /><Relationship Type="http://schemas.openxmlformats.org/officeDocument/2006/relationships/officeDocument" Target="/ppt/presentation.xml" Id="Rd1bd18ddee044d84" /></Relationships>
</file>

<file path=ppt/presentation.xml><?xml version="1.0" encoding="utf-8"?>
<p:presentation xmlns:p="http://schemas.openxmlformats.org/presentationml/2006/main">
  <p:sldMasterIdLst>
    <p:sldMasterId xmlns:r="http://schemas.openxmlformats.org/officeDocument/2006/relationships" id="2147483648" r:id="R5e1c75544a624af8"/>
  </p:sldMasterIdLst>
  <p:notesMasterIdLst>
    <p:notesMasterId xmlns:r="http://schemas.openxmlformats.org/officeDocument/2006/relationships" r:id="Rf84496782e074dba"/>
  </p:notesMasterIdLst>
  <p:sldIdLst>
    <p:sldId xmlns:r="http://schemas.openxmlformats.org/officeDocument/2006/relationships" id="256" r:id="R7ac31feffe1f47d0"/>
    <p:sldId xmlns:r="http://schemas.openxmlformats.org/officeDocument/2006/relationships" id="257" r:id="Rff4d573935c74ef5"/>
    <p:sldId xmlns:r="http://schemas.openxmlformats.org/officeDocument/2006/relationships" id="258" r:id="Rc42ba6743e6c4e84"/>
    <p:sldId xmlns:r="http://schemas.openxmlformats.org/officeDocument/2006/relationships" id="259" r:id="Rd7861807bdac4bc9"/>
    <p:sldId xmlns:r="http://schemas.openxmlformats.org/officeDocument/2006/relationships" id="260" r:id="R108ebddaf6324d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4d30001f5c4fb5" /><Relationship Type="http://schemas.openxmlformats.org/officeDocument/2006/relationships/slideMaster" Target="/ppt/slideMasters/slideMaster1.xml" Id="R5e1c75544a624af8" /><Relationship Type="http://schemas.openxmlformats.org/officeDocument/2006/relationships/notesMaster" Target="/ppt/notesMasters/notesMaster1.xml" Id="Rf84496782e074dba" /><Relationship Type="http://schemas.openxmlformats.org/officeDocument/2006/relationships/presProps" Target="/ppt/presProps.xml" Id="Re38d7dee482049dc" /><Relationship Type="http://schemas.openxmlformats.org/officeDocument/2006/relationships/tableStyles" Target="/ppt/tableStyles.xml" Id="R363a14348b9c46d9" /><Relationship Type="http://schemas.openxmlformats.org/officeDocument/2006/relationships/slide" Target="/ppt/slides/slide1.xml" Id="R7ac31feffe1f47d0" /><Relationship Type="http://schemas.openxmlformats.org/officeDocument/2006/relationships/slide" Target="/ppt/slides/slide2.xml" Id="Rff4d573935c74ef5" /><Relationship Type="http://schemas.openxmlformats.org/officeDocument/2006/relationships/slide" Target="/ppt/slides/slide3.xml" Id="Rc42ba6743e6c4e84" /><Relationship Type="http://schemas.openxmlformats.org/officeDocument/2006/relationships/slide" Target="/ppt/slides/slide4.xml" Id="Rd7861807bdac4bc9" /><Relationship Type="http://schemas.openxmlformats.org/officeDocument/2006/relationships/slide" Target="/ppt/slides/slide5.xml" Id="R108ebddaf6324d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528bd1d4ec42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09dfd2bdec40bb" /><Relationship Type="http://schemas.openxmlformats.org/officeDocument/2006/relationships/notesMaster" Target="/ppt/notesMasters/notesMaster1.xml" Id="R35c4fb93f7db4b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20d9751a55407e" /><Relationship Type="http://schemas.openxmlformats.org/officeDocument/2006/relationships/notesMaster" Target="/ppt/notesMasters/notesMaster1.xml" Id="Rb4aa4859ab2849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e5247cac84496b" /><Relationship Type="http://schemas.openxmlformats.org/officeDocument/2006/relationships/notesMaster" Target="/ppt/notesMasters/notesMaster1.xml" Id="R5708c507eacd44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e4e1ea101043ac" /><Relationship Type="http://schemas.openxmlformats.org/officeDocument/2006/relationships/notesMaster" Target="/ppt/notesMasters/notesMaster1.xml" Id="R4b62ffd7e2dd43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f2aa56d06e4bdf" /><Relationship Type="http://schemas.openxmlformats.org/officeDocument/2006/relationships/notesMaster" Target="/ppt/notesMasters/notesMaster1.xml" Id="R2d557e50ee1949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YASH ONLY. Target 38 seconds. Automatic entrance animation; click once to advance.</a:t>
            </a:r>
          </a:p>
          <a:p xmlns:a="http://schemas.openxmlformats.org/drawingml/2006/main">
            <a:r>
              <a:t/>
            </a:r>
          </a:p>
          <a:p xmlns:a="http://schemas.openxmlformats.org/drawingml/2006/main">
            <a:r>
              <a:t>SAY:</a:t>
            </a:r>
          </a:p>
          <a:p xmlns:a="http://schemas.openxmlformats.org/drawingml/2006/main">
            <a:r>
              <a:t>Hi, I’m Yash, presenting our Computer Networks Phase 1 project, Build and Observe. We built the system on four physical Macs connected to the same LAN. My laptop runs private DNS and the main client. Ritesh runs nginx with HTTPS and load balancing. Parul runs Backend A on port 3001. Dhruv runs Backend B on port 3002 and also tests as a second client. The client resolves our private domain, connects to Ritesh, and receives a response from one of the two backends.</a:t>
            </a:r>
          </a:p>
          <a:p xmlns:a="http://schemas.openxmlformats.org/drawingml/2006/main">
            <a:r>
              <a:t/>
            </a:r>
          </a:p>
          <a:p xmlns:a="http://schemas.openxmlformats.org/drawingml/2006/main">
            <a:r>
              <a:t>EVIDENCE SOURCE:</a:t>
            </a:r>
          </a:p>
          <a:p xmlns:a="http://schemas.openxmlformats.org/drawingml/2006/main">
            <a:r>
              <a:t>network.env and docs/architecture.md. Roles describe the implemented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YASH ONLY. Target 39 seconds. Automatic entrance animation; click once to advance.</a:t>
            </a:r>
          </a:p>
          <a:p xmlns:a="http://schemas.openxmlformats.org/drawingml/2006/main">
            <a:r>
              <a:t/>
            </a:r>
          </a:p>
          <a:p xmlns:a="http://schemas.openxmlformats.org/drawingml/2006/main">
            <a:r>
              <a:t>SAY:</a:t>
            </a:r>
          </a:p>
          <a:p xmlns:a="http://schemas.openxmlformats.org/drawingml/2006/main">
            <a:r>
              <a:t>First, DNS turns the private name into the edge server’s address. Both app.team1.test and api.team1.test resolve through my DNS server to Ritesh at 10.7.18.84. The screenshot shows the actual resolver and answer. The client then connects on port 8443 and validates the server certificate. Our HTTPS checks pass using the installed certificate trust, without curl’s insecure option. DNS success and HTTPS success are separate checks: finding an address does not prove that the service or certificate works.</a:t>
            </a:r>
          </a:p>
          <a:p xmlns:a="http://schemas.openxmlformats.org/drawingml/2006/main">
            <a:r>
              <a:t/>
            </a:r>
          </a:p>
          <a:p xmlns:a="http://schemas.openxmlformats.org/drawingml/2006/main">
            <a:r>
              <a:t>EVIDENCE SOURCE:</a:t>
            </a:r>
          </a:p>
          <a:p xmlns:a="http://schemas.openxmlformats.org/drawingml/2006/main">
            <a:r>
              <a:t>evidence/collected/01_Yash/dns-and-https.png and verified-results.txt. Screenshot excerpt preserves the response and resolver. Both names and certificate trust are supported by the complete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YASH ONLY. Target 37 seconds. Automatic entrance animation; click once to advance.</a:t>
            </a:r>
          </a:p>
          <a:p xmlns:a="http://schemas.openxmlformats.org/drawingml/2006/main">
            <a:r>
              <a:t/>
            </a:r>
          </a:p>
          <a:p xmlns:a="http://schemas.openxmlformats.org/drawingml/2006/main">
            <a:r>
              <a:t>SAY:</a:t>
            </a:r>
          </a:p>
          <a:p xmlns:a="http://schemas.openxmlformats.org/drawingml/2006/main">
            <a:r>
              <a:t>Next, we checked both backends directly from Ritesh’s laptop. Each returned HTTP 200, valid JSON, and its own X-Backend header. nginx forwards requests to these two servers using round robin. In this recorded ten-request test, the responses alternate between A and B, five times each. The client keeps using the same HTTPS domain. Only nginx needs the backend addresses, and it creates a separate HTTP connection to whichever backend it selects.</a:t>
            </a:r>
          </a:p>
          <a:p xmlns:a="http://schemas.openxmlformats.org/drawingml/2006/main">
            <a:r>
              <a:t/>
            </a:r>
          </a:p>
          <a:p xmlns:a="http://schemas.openxmlformats.org/drawingml/2006/main">
            <a:r>
              <a:t>EVIDENCE SOURCE:</a:t>
            </a:r>
          </a:p>
          <a:p xmlns:a="http://schemas.openxmlformats.org/drawingml/2006/main">
            <a:r>
              <a:t>evidence/collected/01_Yash/balancing-and-caching.png. Ritesh direct tests: evidence/collected/02_Ritesh/direct-backends-and-pings.png. Parul local response: evidence/collected/03_Parul/backend-a-and-pings.png. These two originals contain a failed ping to Ritesh; no all-pairs-ping success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YASH ONLY. Target 37 seconds. Automatic entrance animation; click once to advance.</a:t>
            </a:r>
          </a:p>
          <a:p xmlns:a="http://schemas.openxmlformats.org/drawingml/2006/main">
            <a:r>
              <a:t/>
            </a:r>
          </a:p>
          <a:p xmlns:a="http://schemas.openxmlformats.org/drawingml/2006/main">
            <a:r>
              <a:t>SAY:</a:t>
            </a:r>
          </a:p>
          <a:p xmlns:a="http://schemas.openxmlformats.org/drawingml/2006/main">
            <a:r>
              <a:t>The caching check starts with a normal 200 response. Cache-Control allows a cache to treat the content as fresh for sixty seconds, and the ETag identifies its version. We then send If-None-Match with that same ETag. The server replies 304 Not Modified without a response body, allowing reuse of the stored content. Both backends serve the same cache representation. This screenshot comes from the second-client test supplied after Dhruv’s certificate-trust setup.</a:t>
            </a:r>
          </a:p>
          <a:p xmlns:a="http://schemas.openxmlformats.org/drawingml/2006/main">
            <a:r>
              <a:t/>
            </a:r>
          </a:p>
          <a:p xmlns:a="http://schemas.openxmlformats.org/drawingml/2006/main">
            <a:r>
              <a:t>EVIDENCE SOURCE:</a:t>
            </a:r>
          </a:p>
          <a:p xmlns:a="http://schemas.openxmlformats.org/drawingml/2006/main">
            <a:r>
              <a:t>evidence/collected/04_Dhruv/https-balancing-caching.jpeg. Attribution to Dhruv comes from the supplied conversation, not a visible username. Original screenshot includes 200, Cache-Control, ETag, request If-None-Match and 304.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YASH ONLY. Target 44 seconds. Automatic entrance animation; click once to advance.</a:t>
            </a:r>
          </a:p>
          <a:p xmlns:a="http://schemas.openxmlformats.org/drawingml/2006/main">
            <a:r>
              <a:t/>
            </a:r>
          </a:p>
          <a:p xmlns:a="http://schemas.openxmlformats.org/drawingml/2006/main">
            <a:r>
              <a:t>SAY:</a:t>
            </a:r>
          </a:p>
          <a:p xmlns:a="http://schemas.openxmlformats.org/drawingml/2006/main">
            <a:r>
              <a:t>Finally, our saved Wireshark capture contains 532 real packets. It records DNS questions and answers, followed by TCP connection setup and TLS negotiation. For TCP, we identify SYN, SYN-ACK, and ACK. A separate TLS 1.2 request exposes the server certificate, followed by encrypted handshake messages and application data. HTTPS keeps the payload encrypted on the wire, while curl displays the decrypted headers. Together, these records demonstrate private DNS, trusted HTTPS, two working backends, round-robin balancing, and conditional caching on our four-Mac network.</a:t>
            </a:r>
          </a:p>
          <a:p xmlns:a="http://schemas.openxmlformats.org/drawingml/2006/main">
            <a:r>
              <a:t/>
            </a:r>
          </a:p>
          <a:p xmlns:a="http://schemas.openxmlformats.org/drawingml/2006/main">
            <a:r>
              <a:t>EVIDENCE SOURCE:</a:t>
            </a:r>
          </a:p>
          <a:p xmlns:a="http://schemas.openxmlformats.org/drawingml/2006/main">
            <a:r>
              <a:t>evidence/collected/05_Packets/wireshark-dns-tcp.png and phase1.pcapng. TCP stream 2 frames 34/40/41. TLS stream 20 frames 513/516/520/522/524/526. TLS details come from the saved capture, beyond the screenshot visible rows. No claim that the five failure demonstrations or all-pairs ping are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835843f88347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1bf213477e40d8" /><Relationship Type="http://schemas.openxmlformats.org/officeDocument/2006/relationships/slideLayout" Target="/ppt/slideLayouts/slideLayout1.xml" Id="R19f4099454d645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f4099454d645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ea703504924fee" /><Relationship Type="http://schemas.openxmlformats.org/officeDocument/2006/relationships/notesSlide" Target="/ppt/notesSlides/notesSlide1.xml" Id="Rd6cde978874648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023324d37546a8" /><Relationship Type="http://schemas.openxmlformats.org/officeDocument/2006/relationships/image" Target="/ppt/media/image.png" Id="Rdc7edcd2b03743e2" /><Relationship Type="http://schemas.openxmlformats.org/officeDocument/2006/relationships/notesSlide" Target="/ppt/notesSlides/notesSlide2.xml" Id="R1e66c4d488ef42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a5d49482874da1" /><Relationship Type="http://schemas.openxmlformats.org/officeDocument/2006/relationships/image" Target="/ppt/media/image2.png" Id="Rcd00b5569a474bb5" /><Relationship Type="http://schemas.openxmlformats.org/officeDocument/2006/relationships/notesSlide" Target="/ppt/notesSlides/notesSlide3.xml" Id="R9fced9d3ab6745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3292dc76f84125" /><Relationship Type="http://schemas.openxmlformats.org/officeDocument/2006/relationships/image" Target="/ppt/media/image.jpeg" Id="Ra9b46089a4ff45f6" /><Relationship Type="http://schemas.openxmlformats.org/officeDocument/2006/relationships/notesSlide" Target="/ppt/notesSlides/notesSlide4.xml" Id="R90092552c9c342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13516ca89e48a0" /><Relationship Type="http://schemas.openxmlformats.org/officeDocument/2006/relationships/image" Target="/ppt/media/image3.png" Id="R1a37f5ce74924b7d" /><Relationship Type="http://schemas.openxmlformats.org/officeDocument/2006/relationships/notesSlide" Target="/ppt/notesSlides/notesSlide5.xml" Id="Red0b44302fe14a19" /></Relationships>
</file>

<file path=ppt/slides/slide1.xml><?xml version="1.0" encoding="utf-8"?>
<p:sld xmlns:p="http://schemas.openxmlformats.org/presentationml/2006/main">
  <p:cSld>
    <p:bg>
      <p:bgPr>
        <a:solidFill xmlns:a="http://schemas.openxmlformats.org/drawingml/2006/main">
          <a:srgbClr val="0A1323"/>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CF1A4986-8CCF-45A1-8A51-016B05E2CB39}"/>
              </a:ext>
            </a:extLst>
          </p:cNvPr>
          <p:cNvSpPr>
            <a:spLocks xmlns:a="http://schemas.openxmlformats.org/drawingml/2006/main" noGrp="1"/>
          </p:cNvSpPr>
          <p:nvPr/>
        </p:nvSpPr>
        <p:spPr>
          <a:xfrm xmlns:a="http://schemas.openxmlformats.org/drawingml/2006/main">
            <a:off x="609600" y="2667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9E5C4"/>
                </a:solidFill>
                <a:latin typeface="Helvetica Neue"/>
                <a:ea typeface="Helvetica Neue"/>
                <a:cs typeface="Helvetica Neue"/>
              </a:defRPr>
            </a:pPr>
            <a:r>
              <a:rPr sz="1350" b="1">
                <a:solidFill>
                  <a:srgbClr val="69E5C4"/>
                </a:solidFill>
                <a:latin typeface="Helvetica Neue"/>
                <a:ea typeface="Helvetica Neue"/>
                <a:cs typeface="Helvetica Neue"/>
              </a:rPr>
              <a:t>PHASE 1 / BUILD &amp; OBSERVE</a:t>
            </a:r>
          </a:p>
        </p:txBody>
      </p:sp>
      <p:sp>
        <p:nvSpPr>
          <p:cNvPr id="2" name="title">
            <a:extLst xmlns:a="http://schemas.openxmlformats.org/drawingml/2006/main">
              <a:ext uri="{FF2B5EF4-FFF2-40B4-BE49-F238E27FC236}">
                <a16:creationId xmlns:a16="http://schemas.microsoft.com/office/drawing/2014/main" id="{BEC82F81-6920-407D-8E67-565C1B1153F4}"/>
              </a:ext>
            </a:extLst>
          </p:cNvPr>
          <p:cNvSpPr>
            <a:spLocks xmlns:a="http://schemas.openxmlformats.org/drawingml/2006/main" noGrp="1"/>
          </p:cNvSpPr>
          <p:nvPr/>
        </p:nvSpPr>
        <p:spPr>
          <a:xfrm xmlns:a="http://schemas.openxmlformats.org/drawingml/2006/main">
            <a:off x="609600" y="7905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5F8"/>
                </a:solidFill>
                <a:latin typeface="Helvetica Neue"/>
                <a:ea typeface="Helvetica Neue"/>
                <a:cs typeface="Helvetica Neue"/>
              </a:defRPr>
            </a:pPr>
            <a:r>
              <a:rPr sz="4050" b="1">
                <a:solidFill>
                  <a:srgbClr val="F3F5F8"/>
                </a:solidFill>
                <a:latin typeface="Helvetica Neue"/>
                <a:ea typeface="Helvetica Neue"/>
                <a:cs typeface="Helvetica Neue"/>
              </a:rPr>
              <a:t>Private Network</a:t>
            </a:r>
          </a:p>
        </p:txBody>
      </p:sp>
      <p:sp>
        <p:nvSpPr>
          <p:cNvPr id="3" name="page">
            <a:extLst xmlns:a="http://schemas.openxmlformats.org/drawingml/2006/main">
              <a:ext uri="{FF2B5EF4-FFF2-40B4-BE49-F238E27FC236}">
                <a16:creationId xmlns:a16="http://schemas.microsoft.com/office/drawing/2014/main" id="{D08D8ECD-4CAB-4DE3-9524-867D333FEFCB}"/>
              </a:ext>
            </a:extLst>
          </p:cNvPr>
          <p:cNvSpPr>
            <a:spLocks xmlns:a="http://schemas.openxmlformats.org/drawingml/2006/main" noGrp="1"/>
          </p:cNvSpPr>
          <p:nvPr/>
        </p:nvSpPr>
        <p:spPr>
          <a:xfrm xmlns:a="http://schemas.openxmlformats.org/drawingml/2006/main">
            <a:off x="10610850" y="63055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AB8CC"/>
                </a:solidFill>
                <a:latin typeface="Helvetica Neue"/>
                <a:ea typeface="Helvetica Neue"/>
                <a:cs typeface="Helvetica Neue"/>
              </a:defRPr>
            </a:pPr>
            <a:r>
              <a:rPr sz="1350" b="0">
                <a:solidFill>
                  <a:srgbClr val="AAB8CC"/>
                </a:solidFill>
                <a:latin typeface="Helvetica Neue"/>
                <a:ea typeface="Helvetica Neue"/>
                <a:cs typeface="Helvetica Neue"/>
              </a:rPr>
              <a:t>01 / 05</a:t>
            </a:r>
          </a:p>
        </p:txBody>
      </p:sp>
      <p:sp>
        <p:nvSpPr>
          <p:cNvPr id="4" name="hero">
            <a:extLst xmlns:a="http://schemas.openxmlformats.org/drawingml/2006/main">
              <a:ext uri="{FF2B5EF4-FFF2-40B4-BE49-F238E27FC236}">
                <a16:creationId xmlns:a16="http://schemas.microsoft.com/office/drawing/2014/main" id="{4AA21902-7663-4053-BE90-77B80CD3C7DB}"/>
              </a:ext>
            </a:extLst>
          </p:cNvPr>
          <p:cNvSpPr>
            <a:spLocks xmlns:a="http://schemas.openxmlformats.org/drawingml/2006/main" noGrp="1"/>
          </p:cNvSpPr>
          <p:nvPr/>
        </p:nvSpPr>
        <p:spPr>
          <a:xfrm xmlns:a="http://schemas.openxmlformats.org/drawingml/2006/main">
            <a:off x="609600" y="2000250"/>
            <a:ext cx="6286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3F5F8"/>
                </a:solidFill>
                <a:latin typeface="Helvetica Neue"/>
                <a:ea typeface="Helvetica Neue"/>
                <a:cs typeface="Helvetica Neue"/>
              </a:defRPr>
            </a:pPr>
            <a:r>
              <a:rPr sz="4800" b="1">
                <a:solidFill>
                  <a:srgbClr val="F3F5F8"/>
                </a:solidFill>
                <a:latin typeface="Helvetica Neue"/>
                <a:ea typeface="Helvetica Neue"/>
                <a:cs typeface="Helvetica Neue"/>
              </a:rPr>
              <a:t>Four Macs.</a:t>
            </a:r>
          </a:p>
          <a:p xmlns:a="http://schemas.openxmlformats.org/drawingml/2006/main">
            <a:pPr>
              <a:defRPr sz="4800" b="1">
                <a:solidFill>
                  <a:srgbClr val="F3F5F8"/>
                </a:solidFill>
                <a:latin typeface="Helvetica Neue"/>
                <a:ea typeface="Helvetica Neue"/>
                <a:cs typeface="Helvetica Neue"/>
              </a:defRPr>
            </a:pPr>
            <a:r>
              <a:rPr sz="4800" b="1">
                <a:solidFill>
                  <a:srgbClr val="F3F5F8"/>
                </a:solidFill>
                <a:latin typeface="Helvetica Neue"/>
                <a:ea typeface="Helvetica Neue"/>
                <a:cs typeface="Helvetica Neue"/>
              </a:rPr>
              <a:t>One private app.</a:t>
            </a:r>
          </a:p>
        </p:txBody>
      </p:sp>
      <p:sp>
        <p:nvSpPr>
          <p:cNvPr id="5" name="domain">
            <a:extLst xmlns:a="http://schemas.openxmlformats.org/drawingml/2006/main">
              <a:ext uri="{FF2B5EF4-FFF2-40B4-BE49-F238E27FC236}">
                <a16:creationId xmlns:a16="http://schemas.microsoft.com/office/drawing/2014/main" id="{CC4B9C33-5697-4505-AAF8-AEE1C96E02D1}"/>
              </a:ext>
            </a:extLst>
          </p:cNvPr>
          <p:cNvSpPr>
            <a:spLocks xmlns:a="http://schemas.openxmlformats.org/drawingml/2006/main" noGrp="1"/>
          </p:cNvSpPr>
          <p:nvPr/>
        </p:nvSpPr>
        <p:spPr>
          <a:xfrm xmlns:a="http://schemas.openxmlformats.org/drawingml/2006/main">
            <a:off x="647700" y="444817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9E5C4"/>
                </a:solidFill>
                <a:latin typeface="Helvetica Neue"/>
                <a:ea typeface="Helvetica Neue"/>
                <a:cs typeface="Helvetica Neue"/>
              </a:defRPr>
            </a:pPr>
            <a:r>
              <a:rPr sz="2400" b="0">
                <a:solidFill>
                  <a:srgbClr val="69E5C4"/>
                </a:solidFill>
                <a:latin typeface="Helvetica Neue"/>
                <a:ea typeface="Helvetica Neue"/>
                <a:cs typeface="Helvetica Neue"/>
              </a:rPr>
              <a:t>app.team1.test:8443</a:t>
            </a:r>
          </a:p>
        </p:txBody>
      </p:sp>
      <p:sp>
        <p:nvSpPr>
          <p:cNvPr id="6" name="presenter">
            <a:extLst xmlns:a="http://schemas.openxmlformats.org/drawingml/2006/main">
              <a:ext uri="{FF2B5EF4-FFF2-40B4-BE49-F238E27FC236}">
                <a16:creationId xmlns:a16="http://schemas.microsoft.com/office/drawing/2014/main" id="{C79C0D06-F7FD-4EAB-82EF-7570C041E812}"/>
              </a:ext>
            </a:extLst>
          </p:cNvPr>
          <p:cNvSpPr>
            <a:spLocks xmlns:a="http://schemas.openxmlformats.org/drawingml/2006/main" noGrp="1"/>
          </p:cNvSpPr>
          <p:nvPr/>
        </p:nvSpPr>
        <p:spPr>
          <a:xfrm xmlns:a="http://schemas.openxmlformats.org/drawingml/2006/main">
            <a:off x="647700" y="54864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C"/>
                </a:solidFill>
                <a:latin typeface="Helvetica Neue"/>
                <a:ea typeface="Helvetica Neue"/>
                <a:cs typeface="Helvetica Neue"/>
              </a:defRPr>
            </a:pPr>
            <a:r>
              <a:rPr sz="1950" b="0">
                <a:solidFill>
                  <a:srgbClr val="AAB8CC"/>
                </a:solidFill>
                <a:latin typeface="Helvetica Neue"/>
                <a:ea typeface="Helvetica Neue"/>
                <a:cs typeface="Helvetica Neue"/>
              </a:rPr>
              <a:t>Presented by Yash</a:t>
            </a:r>
          </a:p>
        </p:txBody>
      </p:sp>
      <p:sp>
        <p:nvSpPr>
          <p:cNvPr id="7" name="role-0">
            <a:extLst xmlns:a="http://schemas.openxmlformats.org/drawingml/2006/main">
              <a:ext uri="{FF2B5EF4-FFF2-40B4-BE49-F238E27FC236}">
                <a16:creationId xmlns:a16="http://schemas.microsoft.com/office/drawing/2014/main" id="{9EA3869F-9E44-4C9F-8A80-0A1B2DB241D4}"/>
              </a:ext>
            </a:extLst>
          </p:cNvPr>
          <p:cNvSpPr>
            <a:spLocks xmlns:a="http://schemas.openxmlformats.org/drawingml/2006/main" noGrp="1"/>
          </p:cNvSpPr>
          <p:nvPr/>
        </p:nvSpPr>
        <p:spPr>
          <a:xfrm xmlns:a="http://schemas.openxmlformats.org/drawingml/2006/main">
            <a:off x="7239000" y="191452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9E5C4"/>
                </a:solidFill>
                <a:latin typeface="Helvetica Neue"/>
                <a:ea typeface="Helvetica Neue"/>
                <a:cs typeface="Helvetica Neue"/>
              </a:defRPr>
            </a:pPr>
            <a:r>
              <a:rPr sz="2175" b="1">
                <a:solidFill>
                  <a:srgbClr val="69E5C4"/>
                </a:solidFill>
                <a:latin typeface="Helvetica Neue"/>
                <a:ea typeface="Helvetica Neue"/>
                <a:cs typeface="Helvetica Neue"/>
              </a:rPr>
              <a:t>Yash</a:t>
            </a:r>
          </a:p>
        </p:txBody>
      </p:sp>
      <p:sp>
        <p:nvSpPr>
          <p:cNvPr id="8" name="job-0">
            <a:extLst xmlns:a="http://schemas.openxmlformats.org/drawingml/2006/main">
              <a:ext uri="{FF2B5EF4-FFF2-40B4-BE49-F238E27FC236}">
                <a16:creationId xmlns:a16="http://schemas.microsoft.com/office/drawing/2014/main" id="{870C27F8-A785-42B6-95E4-7BC33CE319B9}"/>
              </a:ext>
            </a:extLst>
          </p:cNvPr>
          <p:cNvSpPr>
            <a:spLocks xmlns:a="http://schemas.openxmlformats.org/drawingml/2006/main" noGrp="1"/>
          </p:cNvSpPr>
          <p:nvPr/>
        </p:nvSpPr>
        <p:spPr>
          <a:xfrm xmlns:a="http://schemas.openxmlformats.org/drawingml/2006/main">
            <a:off x="7239000" y="22479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5F8"/>
                </a:solidFill>
                <a:latin typeface="Helvetica Neue"/>
                <a:ea typeface="Helvetica Neue"/>
                <a:cs typeface="Helvetica Neue"/>
              </a:defRPr>
            </a:pPr>
            <a:r>
              <a:rPr sz="1800" b="0">
                <a:solidFill>
                  <a:srgbClr val="F3F5F8"/>
                </a:solidFill>
                <a:latin typeface="Helvetica Neue"/>
                <a:ea typeface="Helvetica Neue"/>
                <a:cs typeface="Helvetica Neue"/>
              </a:rPr>
              <a:t>DNS + main client</a:t>
            </a:r>
          </a:p>
        </p:txBody>
      </p:sp>
      <p:sp>
        <p:nvSpPr>
          <p:cNvPr id="9" name="ip-0">
            <a:extLst xmlns:a="http://schemas.openxmlformats.org/drawingml/2006/main">
              <a:ext uri="{FF2B5EF4-FFF2-40B4-BE49-F238E27FC236}">
                <a16:creationId xmlns:a16="http://schemas.microsoft.com/office/drawing/2014/main" id="{EE4D2094-4BF5-4FB6-A458-4FA0B2466A97}"/>
              </a:ext>
            </a:extLst>
          </p:cNvPr>
          <p:cNvSpPr>
            <a:spLocks xmlns:a="http://schemas.openxmlformats.org/drawingml/2006/main" noGrp="1"/>
          </p:cNvSpPr>
          <p:nvPr/>
        </p:nvSpPr>
        <p:spPr>
          <a:xfrm xmlns:a="http://schemas.openxmlformats.org/drawingml/2006/main">
            <a:off x="7239000" y="25622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AB8CC"/>
                </a:solidFill>
                <a:latin typeface="Helvetica Neue"/>
                <a:ea typeface="Helvetica Neue"/>
                <a:cs typeface="Helvetica Neue"/>
              </a:defRPr>
            </a:pPr>
            <a:r>
              <a:rPr sz="1425" b="0">
                <a:solidFill>
                  <a:srgbClr val="AAB8CC"/>
                </a:solidFill>
                <a:latin typeface="Helvetica Neue"/>
                <a:ea typeface="Helvetica Neue"/>
                <a:cs typeface="Helvetica Neue"/>
              </a:rPr>
              <a:t>10.7.23.39</a:t>
            </a:r>
          </a:p>
        </p:txBody>
      </p:sp>
      <p:sp>
        <p:nvSpPr>
          <p:cNvPr id="10" name="role-1">
            <a:extLst xmlns:a="http://schemas.openxmlformats.org/drawingml/2006/main">
              <a:ext uri="{FF2B5EF4-FFF2-40B4-BE49-F238E27FC236}">
                <a16:creationId xmlns:a16="http://schemas.microsoft.com/office/drawing/2014/main" id="{CA9B9B98-D044-4236-833E-53A3A8E86CF9}"/>
              </a:ext>
            </a:extLst>
          </p:cNvPr>
          <p:cNvSpPr>
            <a:spLocks xmlns:a="http://schemas.openxmlformats.org/drawingml/2006/main" noGrp="1"/>
          </p:cNvSpPr>
          <p:nvPr/>
        </p:nvSpPr>
        <p:spPr>
          <a:xfrm xmlns:a="http://schemas.openxmlformats.org/drawingml/2006/main">
            <a:off x="7239000" y="294322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9E5C4"/>
                </a:solidFill>
                <a:latin typeface="Helvetica Neue"/>
                <a:ea typeface="Helvetica Neue"/>
                <a:cs typeface="Helvetica Neue"/>
              </a:defRPr>
            </a:pPr>
            <a:r>
              <a:rPr sz="2175" b="1">
                <a:solidFill>
                  <a:srgbClr val="69E5C4"/>
                </a:solidFill>
                <a:latin typeface="Helvetica Neue"/>
                <a:ea typeface="Helvetica Neue"/>
                <a:cs typeface="Helvetica Neue"/>
              </a:rPr>
              <a:t>Ritesh</a:t>
            </a:r>
          </a:p>
        </p:txBody>
      </p:sp>
      <p:sp>
        <p:nvSpPr>
          <p:cNvPr id="11" name="job-1">
            <a:extLst xmlns:a="http://schemas.openxmlformats.org/drawingml/2006/main">
              <a:ext uri="{FF2B5EF4-FFF2-40B4-BE49-F238E27FC236}">
                <a16:creationId xmlns:a16="http://schemas.microsoft.com/office/drawing/2014/main" id="{BCD30A49-C1C5-4AED-A06F-B3D928C83B1E}"/>
              </a:ext>
            </a:extLst>
          </p:cNvPr>
          <p:cNvSpPr>
            <a:spLocks xmlns:a="http://schemas.openxmlformats.org/drawingml/2006/main" noGrp="1"/>
          </p:cNvSpPr>
          <p:nvPr/>
        </p:nvSpPr>
        <p:spPr>
          <a:xfrm xmlns:a="http://schemas.openxmlformats.org/drawingml/2006/main">
            <a:off x="7239000" y="32766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5F8"/>
                </a:solidFill>
                <a:latin typeface="Helvetica Neue"/>
                <a:ea typeface="Helvetica Neue"/>
                <a:cs typeface="Helvetica Neue"/>
              </a:defRPr>
            </a:pPr>
            <a:r>
              <a:rPr sz="1800" b="0">
                <a:solidFill>
                  <a:srgbClr val="F3F5F8"/>
                </a:solidFill>
                <a:latin typeface="Helvetica Neue"/>
                <a:ea typeface="Helvetica Neue"/>
                <a:cs typeface="Helvetica Neue"/>
              </a:rPr>
              <a:t>nginx + TLS + load balancer</a:t>
            </a:r>
          </a:p>
        </p:txBody>
      </p:sp>
      <p:sp>
        <p:nvSpPr>
          <p:cNvPr id="12" name="ip-1">
            <a:extLst xmlns:a="http://schemas.openxmlformats.org/drawingml/2006/main">
              <a:ext uri="{FF2B5EF4-FFF2-40B4-BE49-F238E27FC236}">
                <a16:creationId xmlns:a16="http://schemas.microsoft.com/office/drawing/2014/main" id="{81EAD8F2-96EF-4E85-BB0C-C18A629E44E6}"/>
              </a:ext>
            </a:extLst>
          </p:cNvPr>
          <p:cNvSpPr>
            <a:spLocks xmlns:a="http://schemas.openxmlformats.org/drawingml/2006/main" noGrp="1"/>
          </p:cNvSpPr>
          <p:nvPr/>
        </p:nvSpPr>
        <p:spPr>
          <a:xfrm xmlns:a="http://schemas.openxmlformats.org/drawingml/2006/main">
            <a:off x="7239000" y="35909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AB8CC"/>
                </a:solidFill>
                <a:latin typeface="Helvetica Neue"/>
                <a:ea typeface="Helvetica Neue"/>
                <a:cs typeface="Helvetica Neue"/>
              </a:defRPr>
            </a:pPr>
            <a:r>
              <a:rPr sz="1425" b="0">
                <a:solidFill>
                  <a:srgbClr val="AAB8CC"/>
                </a:solidFill>
                <a:latin typeface="Helvetica Neue"/>
                <a:ea typeface="Helvetica Neue"/>
                <a:cs typeface="Helvetica Neue"/>
              </a:rPr>
              <a:t>10.7.18.84</a:t>
            </a:r>
          </a:p>
        </p:txBody>
      </p:sp>
      <p:sp>
        <p:nvSpPr>
          <p:cNvPr id="13" name="role-2">
            <a:extLst xmlns:a="http://schemas.openxmlformats.org/drawingml/2006/main">
              <a:ext uri="{FF2B5EF4-FFF2-40B4-BE49-F238E27FC236}">
                <a16:creationId xmlns:a16="http://schemas.microsoft.com/office/drawing/2014/main" id="{A4B10B99-0751-40E5-A7AC-8E6A56B187A4}"/>
              </a:ext>
            </a:extLst>
          </p:cNvPr>
          <p:cNvSpPr>
            <a:spLocks xmlns:a="http://schemas.openxmlformats.org/drawingml/2006/main" noGrp="1"/>
          </p:cNvSpPr>
          <p:nvPr/>
        </p:nvSpPr>
        <p:spPr>
          <a:xfrm xmlns:a="http://schemas.openxmlformats.org/drawingml/2006/main">
            <a:off x="7239000" y="397192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9E5C4"/>
                </a:solidFill>
                <a:latin typeface="Helvetica Neue"/>
                <a:ea typeface="Helvetica Neue"/>
                <a:cs typeface="Helvetica Neue"/>
              </a:defRPr>
            </a:pPr>
            <a:r>
              <a:rPr sz="2175" b="1">
                <a:solidFill>
                  <a:srgbClr val="69E5C4"/>
                </a:solidFill>
                <a:latin typeface="Helvetica Neue"/>
                <a:ea typeface="Helvetica Neue"/>
                <a:cs typeface="Helvetica Neue"/>
              </a:rPr>
              <a:t>Parul</a:t>
            </a:r>
          </a:p>
        </p:txBody>
      </p:sp>
      <p:sp>
        <p:nvSpPr>
          <p:cNvPr id="14" name="job-2">
            <a:extLst xmlns:a="http://schemas.openxmlformats.org/drawingml/2006/main">
              <a:ext uri="{FF2B5EF4-FFF2-40B4-BE49-F238E27FC236}">
                <a16:creationId xmlns:a16="http://schemas.microsoft.com/office/drawing/2014/main" id="{B408A76F-F37F-48C3-9993-50E9ECBB4696}"/>
              </a:ext>
            </a:extLst>
          </p:cNvPr>
          <p:cNvSpPr>
            <a:spLocks xmlns:a="http://schemas.openxmlformats.org/drawingml/2006/main" noGrp="1"/>
          </p:cNvSpPr>
          <p:nvPr/>
        </p:nvSpPr>
        <p:spPr>
          <a:xfrm xmlns:a="http://schemas.openxmlformats.org/drawingml/2006/main">
            <a:off x="7239000" y="43053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5F8"/>
                </a:solidFill>
                <a:latin typeface="Helvetica Neue"/>
                <a:ea typeface="Helvetica Neue"/>
                <a:cs typeface="Helvetica Neue"/>
              </a:defRPr>
            </a:pPr>
            <a:r>
              <a:rPr sz="1800" b="0">
                <a:solidFill>
                  <a:srgbClr val="F3F5F8"/>
                </a:solidFill>
                <a:latin typeface="Helvetica Neue"/>
                <a:ea typeface="Helvetica Neue"/>
                <a:cs typeface="Helvetica Neue"/>
              </a:rPr>
              <a:t>Backend A   :3001</a:t>
            </a:r>
          </a:p>
        </p:txBody>
      </p:sp>
      <p:sp>
        <p:nvSpPr>
          <p:cNvPr id="15" name="ip-2">
            <a:extLst xmlns:a="http://schemas.openxmlformats.org/drawingml/2006/main">
              <a:ext uri="{FF2B5EF4-FFF2-40B4-BE49-F238E27FC236}">
                <a16:creationId xmlns:a16="http://schemas.microsoft.com/office/drawing/2014/main" id="{9759707C-4B1A-4858-A739-AD95366B81E1}"/>
              </a:ext>
            </a:extLst>
          </p:cNvPr>
          <p:cNvSpPr>
            <a:spLocks xmlns:a="http://schemas.openxmlformats.org/drawingml/2006/main" noGrp="1"/>
          </p:cNvSpPr>
          <p:nvPr/>
        </p:nvSpPr>
        <p:spPr>
          <a:xfrm xmlns:a="http://schemas.openxmlformats.org/drawingml/2006/main">
            <a:off x="7239000" y="4619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AB8CC"/>
                </a:solidFill>
                <a:latin typeface="Helvetica Neue"/>
                <a:ea typeface="Helvetica Neue"/>
                <a:cs typeface="Helvetica Neue"/>
              </a:defRPr>
            </a:pPr>
            <a:r>
              <a:rPr sz="1425" b="0">
                <a:solidFill>
                  <a:srgbClr val="AAB8CC"/>
                </a:solidFill>
                <a:latin typeface="Helvetica Neue"/>
                <a:ea typeface="Helvetica Neue"/>
                <a:cs typeface="Helvetica Neue"/>
              </a:rPr>
              <a:t>10.7.1.11</a:t>
            </a:r>
          </a:p>
        </p:txBody>
      </p:sp>
      <p:sp>
        <p:nvSpPr>
          <p:cNvPr id="16" name="role-3">
            <a:extLst xmlns:a="http://schemas.openxmlformats.org/drawingml/2006/main">
              <a:ext uri="{FF2B5EF4-FFF2-40B4-BE49-F238E27FC236}">
                <a16:creationId xmlns:a16="http://schemas.microsoft.com/office/drawing/2014/main" id="{D9E222D1-F9F3-4DE5-87F6-83CDCB3AF0A3}"/>
              </a:ext>
            </a:extLst>
          </p:cNvPr>
          <p:cNvSpPr>
            <a:spLocks xmlns:a="http://schemas.openxmlformats.org/drawingml/2006/main" noGrp="1"/>
          </p:cNvSpPr>
          <p:nvPr/>
        </p:nvSpPr>
        <p:spPr>
          <a:xfrm xmlns:a="http://schemas.openxmlformats.org/drawingml/2006/main">
            <a:off x="7239000" y="500062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9E5C4"/>
                </a:solidFill>
                <a:latin typeface="Helvetica Neue"/>
                <a:ea typeface="Helvetica Neue"/>
                <a:cs typeface="Helvetica Neue"/>
              </a:defRPr>
            </a:pPr>
            <a:r>
              <a:rPr sz="2175" b="1">
                <a:solidFill>
                  <a:srgbClr val="69E5C4"/>
                </a:solidFill>
                <a:latin typeface="Helvetica Neue"/>
                <a:ea typeface="Helvetica Neue"/>
                <a:cs typeface="Helvetica Neue"/>
              </a:rPr>
              <a:t>Dhruv</a:t>
            </a:r>
          </a:p>
        </p:txBody>
      </p:sp>
      <p:sp>
        <p:nvSpPr>
          <p:cNvPr id="17" name="job-3">
            <a:extLst xmlns:a="http://schemas.openxmlformats.org/drawingml/2006/main">
              <a:ext uri="{FF2B5EF4-FFF2-40B4-BE49-F238E27FC236}">
                <a16:creationId xmlns:a16="http://schemas.microsoft.com/office/drawing/2014/main" id="{A9D65B84-3D6B-4D5F-9FBB-0277DDEB3D36}"/>
              </a:ext>
            </a:extLst>
          </p:cNvPr>
          <p:cNvSpPr>
            <a:spLocks xmlns:a="http://schemas.openxmlformats.org/drawingml/2006/main" noGrp="1"/>
          </p:cNvSpPr>
          <p:nvPr/>
        </p:nvSpPr>
        <p:spPr>
          <a:xfrm xmlns:a="http://schemas.openxmlformats.org/drawingml/2006/main">
            <a:off x="7239000" y="53340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5F8"/>
                </a:solidFill>
                <a:latin typeface="Helvetica Neue"/>
                <a:ea typeface="Helvetica Neue"/>
                <a:cs typeface="Helvetica Neue"/>
              </a:defRPr>
            </a:pPr>
            <a:r>
              <a:rPr sz="1800" b="0">
                <a:solidFill>
                  <a:srgbClr val="F3F5F8"/>
                </a:solidFill>
                <a:latin typeface="Helvetica Neue"/>
                <a:ea typeface="Helvetica Neue"/>
                <a:cs typeface="Helvetica Neue"/>
              </a:rPr>
              <a:t>Backend B   :3002 + client</a:t>
            </a:r>
          </a:p>
        </p:txBody>
      </p:sp>
      <p:sp>
        <p:nvSpPr>
          <p:cNvPr id="18" name="ip-3">
            <a:extLst xmlns:a="http://schemas.openxmlformats.org/drawingml/2006/main">
              <a:ext uri="{FF2B5EF4-FFF2-40B4-BE49-F238E27FC236}">
                <a16:creationId xmlns:a16="http://schemas.microsoft.com/office/drawing/2014/main" id="{B272BD53-C775-4D32-B416-F98428A27157}"/>
              </a:ext>
            </a:extLst>
          </p:cNvPr>
          <p:cNvSpPr>
            <a:spLocks xmlns:a="http://schemas.openxmlformats.org/drawingml/2006/main" noGrp="1"/>
          </p:cNvSpPr>
          <p:nvPr/>
        </p:nvSpPr>
        <p:spPr>
          <a:xfrm xmlns:a="http://schemas.openxmlformats.org/drawingml/2006/main">
            <a:off x="7239000" y="56483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AB8CC"/>
                </a:solidFill>
                <a:latin typeface="Helvetica Neue"/>
                <a:ea typeface="Helvetica Neue"/>
                <a:cs typeface="Helvetica Neue"/>
              </a:defRPr>
            </a:pPr>
            <a:r>
              <a:rPr sz="1425" b="0">
                <a:solidFill>
                  <a:srgbClr val="AAB8CC"/>
                </a:solidFill>
                <a:latin typeface="Helvetica Neue"/>
                <a:ea typeface="Helvetica Neue"/>
                <a:cs typeface="Helvetica Neue"/>
              </a:rPr>
              <a:t>10.7.20.186</a:t>
            </a:r>
          </a:p>
        </p:txBody>
      </p:sp>
    </p:spTree>
    <p:extLst>
      <p:ext uri="{BB962C8B-B14F-4D97-AF65-F5344CB8AC3E}">
        <p14:creationId xmlns:p14="http://schemas.microsoft.com/office/powerpoint/2010/main" val="1023095043"/>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8" presetID="10" presetClass="entr" presetSubtype="0"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2" presetID="10" presetClass="entr" presetSubtype="0" fill="hold" nodeType="withEffect">
                            <p:stCondLst>
                              <p:cond delay="2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6" presetID="10" presetClass="entr" presetSubtype="0" fill="hold"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0" presetID="10" presetClass="entr" presetSubtype="0" fill="hold" nodeType="withEffect">
                            <p:stCondLst>
                              <p:cond delay="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4" presetID="10" presetClass="entr" presetSubtype="0" fill="hold" nodeType="withEffect">
                            <p:stCondLst>
                              <p:cond delay="5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8" presetID="10" presetClass="entr" presetSubtype="0" fill="hold" nodeType="withEffect">
                            <p:stCondLst>
                              <p:cond delay="6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2" presetID="10" presetClass="entr" presetSubtype="0" fill="hold" nodeType="withEffect">
                            <p:stCondLst>
                              <p:cond delay="7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6" presetID="10" presetClass="entr" presetSubtype="0" fill="hold" nodeType="withEffect">
                            <p:stCondLst>
                              <p:cond delay="8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40" presetID="10" presetClass="entr" presetSubtype="0" fill="hold" nodeType="withEffect">
                            <p:stCondLst>
                              <p:cond delay="9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50"/>
                                  <p:tgtEl>
                                    <p:spTgt spid="13"/>
                                  </p:tgtEl>
                                </p:cBhvr>
                              </p:animEffect>
                            </p:childTnLst>
                          </p:cTn>
                        </p:par>
                        <p:par>
                          <p:cTn id="44" presetID="10" presetClass="entr" presetSubtype="0" fill="hold" nodeType="withEffect">
                            <p:stCondLst>
                              <p:cond delay="10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50"/>
                                  <p:tgtEl>
                                    <p:spTgt spid="14"/>
                                  </p:tgtEl>
                                </p:cBhvr>
                              </p:animEffect>
                            </p:childTnLst>
                          </p:cTn>
                        </p:par>
                        <p:par>
                          <p:cTn id="48" presetID="10" presetClass="entr" presetSubtype="0" fill="hold" nodeType="withEffect">
                            <p:stCondLst>
                              <p:cond delay="110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50"/>
                                  <p:tgtEl>
                                    <p:spTgt spid="15"/>
                                  </p:tgtEl>
                                </p:cBhvr>
                              </p:animEffect>
                            </p:childTnLst>
                          </p:cTn>
                        </p:par>
                        <p:par>
                          <p:cTn id="52" presetID="10" presetClass="entr" presetSubtype="0" fill="hold" nodeType="withEffect">
                            <p:stCondLst>
                              <p:cond delay="120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450"/>
                                  <p:tgtEl>
                                    <p:spTgt spid="16"/>
                                  </p:tgtEl>
                                </p:cBhvr>
                              </p:animEffect>
                            </p:childTnLst>
                          </p:cTn>
                        </p:par>
                        <p:par>
                          <p:cTn id="56" presetID="10" presetClass="entr" presetSubtype="0" fill="hold" nodeType="withEffect">
                            <p:stCondLst>
                              <p:cond delay="130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450"/>
                                  <p:tgtEl>
                                    <p:spTgt spid="17"/>
                                  </p:tgtEl>
                                </p:cBhvr>
                              </p:animEffect>
                            </p:childTnLst>
                          </p:cTn>
                        </p:par>
                        <p:par>
                          <p:cTn id="60" presetID="10" presetClass="entr" presetSubtype="0" fill="hold" nodeType="withEffect">
                            <p:stCondLst>
                              <p:cond delay="140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450"/>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0A1323"/>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3B1C6320-D3FC-4543-AE6C-7D7A22668404}"/>
              </a:ext>
            </a:extLst>
          </p:cNvPr>
          <p:cNvSpPr>
            <a:spLocks xmlns:a="http://schemas.openxmlformats.org/drawingml/2006/main" noGrp="1"/>
          </p:cNvSpPr>
          <p:nvPr/>
        </p:nvSpPr>
        <p:spPr>
          <a:xfrm xmlns:a="http://schemas.openxmlformats.org/drawingml/2006/main">
            <a:off x="609600" y="2667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9E5C4"/>
                </a:solidFill>
                <a:latin typeface="Helvetica Neue"/>
                <a:ea typeface="Helvetica Neue"/>
                <a:cs typeface="Helvetica Neue"/>
              </a:defRPr>
            </a:pPr>
            <a:r>
              <a:rPr sz="1350" b="1">
                <a:solidFill>
                  <a:srgbClr val="69E5C4"/>
                </a:solidFill>
                <a:latin typeface="Helvetica Neue"/>
                <a:ea typeface="Helvetica Neue"/>
                <a:cs typeface="Helvetica Neue"/>
              </a:rPr>
              <a:t>PHASE 1 / BUILD &amp; OBSERVE</a:t>
            </a:r>
          </a:p>
        </p:txBody>
      </p:sp>
      <p:sp>
        <p:nvSpPr>
          <p:cNvPr id="2" name="title">
            <a:extLst xmlns:a="http://schemas.openxmlformats.org/drawingml/2006/main">
              <a:ext uri="{FF2B5EF4-FFF2-40B4-BE49-F238E27FC236}">
                <a16:creationId xmlns:a16="http://schemas.microsoft.com/office/drawing/2014/main" id="{C08DAEA7-FD6F-4984-8DDF-54D95466AAC5}"/>
              </a:ext>
            </a:extLst>
          </p:cNvPr>
          <p:cNvSpPr>
            <a:spLocks xmlns:a="http://schemas.openxmlformats.org/drawingml/2006/main" noGrp="1"/>
          </p:cNvSpPr>
          <p:nvPr/>
        </p:nvSpPr>
        <p:spPr>
          <a:xfrm xmlns:a="http://schemas.openxmlformats.org/drawingml/2006/main">
            <a:off x="609600" y="7905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5F8"/>
                </a:solidFill>
                <a:latin typeface="Helvetica Neue"/>
                <a:ea typeface="Helvetica Neue"/>
                <a:cs typeface="Helvetica Neue"/>
              </a:defRPr>
            </a:pPr>
            <a:r>
              <a:rPr sz="4050" b="1">
                <a:solidFill>
                  <a:srgbClr val="F3F5F8"/>
                </a:solidFill>
                <a:latin typeface="Helvetica Neue"/>
                <a:ea typeface="Helvetica Neue"/>
                <a:cs typeface="Helvetica Neue"/>
              </a:rPr>
              <a:t>Private DNS and trusted HTTPS</a:t>
            </a:r>
          </a:p>
        </p:txBody>
      </p:sp>
      <p:sp>
        <p:nvSpPr>
          <p:cNvPr id="3" name="page">
            <a:extLst xmlns:a="http://schemas.openxmlformats.org/drawingml/2006/main">
              <a:ext uri="{FF2B5EF4-FFF2-40B4-BE49-F238E27FC236}">
                <a16:creationId xmlns:a16="http://schemas.microsoft.com/office/drawing/2014/main" id="{B45F11F6-A194-4A22-BEE0-F6BFA0AEB23E}"/>
              </a:ext>
            </a:extLst>
          </p:cNvPr>
          <p:cNvSpPr>
            <a:spLocks xmlns:a="http://schemas.openxmlformats.org/drawingml/2006/main" noGrp="1"/>
          </p:cNvSpPr>
          <p:nvPr/>
        </p:nvSpPr>
        <p:spPr>
          <a:xfrm xmlns:a="http://schemas.openxmlformats.org/drawingml/2006/main">
            <a:off x="10610850" y="63055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AB8CC"/>
                </a:solidFill>
                <a:latin typeface="Helvetica Neue"/>
                <a:ea typeface="Helvetica Neue"/>
                <a:cs typeface="Helvetica Neue"/>
              </a:defRPr>
            </a:pPr>
            <a:r>
              <a:rPr sz="1350" b="0">
                <a:solidFill>
                  <a:srgbClr val="AAB8CC"/>
                </a:solidFill>
                <a:latin typeface="Helvetica Neue"/>
                <a:ea typeface="Helvetica Neue"/>
                <a:cs typeface="Helvetica Neue"/>
              </a:rPr>
              <a:t>02 / 05</a:t>
            </a:r>
          </a:p>
        </p:txBody>
      </p:sp>
      <p:sp>
        <p:nvSpPr>
          <p:cNvPr id="4" name="dns-answer">
            <a:extLst xmlns:a="http://schemas.openxmlformats.org/drawingml/2006/main">
              <a:ext uri="{FF2B5EF4-FFF2-40B4-BE49-F238E27FC236}">
                <a16:creationId xmlns:a16="http://schemas.microsoft.com/office/drawing/2014/main" id="{FF3311C8-0884-47E6-8402-CB7B0133462F}"/>
              </a:ext>
            </a:extLst>
          </p:cNvPr>
          <p:cNvSpPr>
            <a:spLocks xmlns:a="http://schemas.openxmlformats.org/drawingml/2006/main" noGrp="1"/>
          </p:cNvSpPr>
          <p:nvPr/>
        </p:nvSpPr>
        <p:spPr>
          <a:xfrm xmlns:a="http://schemas.openxmlformats.org/drawingml/2006/main">
            <a:off x="609600" y="17811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9E5C4"/>
                </a:solidFill>
                <a:latin typeface="Helvetica Neue"/>
                <a:ea typeface="Helvetica Neue"/>
                <a:cs typeface="Helvetica Neue"/>
              </a:defRPr>
            </a:pPr>
            <a:r>
              <a:rPr sz="2550" b="1">
                <a:solidFill>
                  <a:srgbClr val="69E5C4"/>
                </a:solidFill>
                <a:latin typeface="Helvetica Neue"/>
                <a:ea typeface="Helvetica Neue"/>
                <a:cs typeface="Helvetica Neue"/>
              </a:rPr>
              <a:t>app.team1.test</a:t>
            </a:r>
          </a:p>
        </p:txBody>
      </p:sp>
      <p:sp>
        <p:nvSpPr>
          <p:cNvPr id="5" name="resolved">
            <a:extLst xmlns:a="http://schemas.openxmlformats.org/drawingml/2006/main">
              <a:ext uri="{FF2B5EF4-FFF2-40B4-BE49-F238E27FC236}">
                <a16:creationId xmlns:a16="http://schemas.microsoft.com/office/drawing/2014/main" id="{534250D9-ADDA-43CE-8EFB-236E0C750EF4}"/>
              </a:ext>
            </a:extLst>
          </p:cNvPr>
          <p:cNvSpPr>
            <a:spLocks xmlns:a="http://schemas.openxmlformats.org/drawingml/2006/main" noGrp="1"/>
          </p:cNvSpPr>
          <p:nvPr/>
        </p:nvSpPr>
        <p:spPr>
          <a:xfrm xmlns:a="http://schemas.openxmlformats.org/drawingml/2006/main">
            <a:off x="8210550" y="1781175"/>
            <a:ext cx="338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3F5F8"/>
                </a:solidFill>
                <a:latin typeface="Helvetica Neue"/>
                <a:ea typeface="Helvetica Neue"/>
                <a:cs typeface="Helvetica Neue"/>
              </a:defRPr>
            </a:pPr>
            <a:r>
              <a:rPr sz="3225" b="1">
                <a:solidFill>
                  <a:srgbClr val="F3F5F8"/>
                </a:solidFill>
                <a:latin typeface="Helvetica Neue"/>
                <a:ea typeface="Helvetica Neue"/>
                <a:cs typeface="Helvetica Neue"/>
              </a:rPr>
              <a:t>10.7.18.84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c7edcd2b03743e2"/>
          <ns0:srcRect xmlns:ns0="http://schemas.openxmlformats.org/drawingml/2006/main" l="243" t="10180" r="27184" b="63531"/>
          <a:stretch xmlns:a="http://schemas.openxmlformats.org/drawingml/2006/main">
            <a:fillRect l="0" t="0" r="0" b="0"/>
          </a:stretch>
        </p:blipFill>
        <p:spPr>
          <a:xfrm xmlns:a="http://schemas.openxmlformats.org/drawingml/2006/main">
            <a:off x="609600" y="2476500"/>
            <a:ext cx="10839450" cy="3697739"/>
          </a:xfrm>
          <a:prstGeom xmlns:a="http://schemas.openxmlformats.org/drawingml/2006/main" prst="rect">
            <a:avLst/>
          </a:prstGeom>
        </p:spPr>
      </p:pic>
      <p:sp>
        <p:nvSpPr>
          <p:cNvPr id="7" name="trust">
            <a:extLst xmlns:a="http://schemas.openxmlformats.org/drawingml/2006/main">
              <a:ext uri="{FF2B5EF4-FFF2-40B4-BE49-F238E27FC236}">
                <a16:creationId xmlns:a16="http://schemas.microsoft.com/office/drawing/2014/main" id="{0BEFC2DE-A5F5-4D64-85A9-338C5CA6AEA5}"/>
              </a:ext>
            </a:extLst>
          </p:cNvPr>
          <p:cNvSpPr>
            <a:spLocks xmlns:a="http://schemas.openxmlformats.org/drawingml/2006/main" noGrp="1"/>
          </p:cNvSpPr>
          <p:nvPr/>
        </p:nvSpPr>
        <p:spPr>
          <a:xfrm xmlns:a="http://schemas.openxmlformats.org/drawingml/2006/main">
            <a:off x="60960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9E5C4"/>
                </a:solidFill>
                <a:latin typeface="Helvetica Neue"/>
                <a:ea typeface="Helvetica Neue"/>
                <a:cs typeface="Helvetica Neue"/>
              </a:defRPr>
            </a:pPr>
            <a:r>
              <a:rPr sz="1725" b="1">
                <a:solidFill>
                  <a:srgbClr val="69E5C4"/>
                </a:solidFill>
                <a:latin typeface="Helvetica Neue"/>
                <a:ea typeface="Helvetica Neue"/>
                <a:cs typeface="Helvetica Neue"/>
              </a:rPr>
              <a:t>HTTPS :8443     Certificate trust enabled</a:t>
            </a:r>
          </a:p>
        </p:txBody>
      </p:sp>
    </p:spTree>
    <p:extLst>
      <p:ext uri="{BB962C8B-B14F-4D97-AF65-F5344CB8AC3E}">
        <p14:creationId xmlns:p14="http://schemas.microsoft.com/office/powerpoint/2010/main" val="112477130"/>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8" presetID="10" presetClass="entr" presetSubtype="0"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2" presetID="10" presetClass="entr" presetSubtype="0" fill="hold" nodeType="withEffect">
                            <p:stCondLst>
                              <p:cond delay="2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6" presetID="10" presetClass="entr" presetSubtype="0" fill="hold" nodeType="withEffect">
                            <p:stCondLst>
                              <p:cond delay="30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0A1323"/>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7489F19D-5F0D-4809-94DB-FFF514A19CEC}"/>
              </a:ext>
            </a:extLst>
          </p:cNvPr>
          <p:cNvSpPr>
            <a:spLocks xmlns:a="http://schemas.openxmlformats.org/drawingml/2006/main" noGrp="1"/>
          </p:cNvSpPr>
          <p:nvPr/>
        </p:nvSpPr>
        <p:spPr>
          <a:xfrm xmlns:a="http://schemas.openxmlformats.org/drawingml/2006/main">
            <a:off x="609600" y="2667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9E5C4"/>
                </a:solidFill>
                <a:latin typeface="Helvetica Neue"/>
                <a:ea typeface="Helvetica Neue"/>
                <a:cs typeface="Helvetica Neue"/>
              </a:defRPr>
            </a:pPr>
            <a:r>
              <a:rPr sz="1350" b="1">
                <a:solidFill>
                  <a:srgbClr val="69E5C4"/>
                </a:solidFill>
                <a:latin typeface="Helvetica Neue"/>
                <a:ea typeface="Helvetica Neue"/>
                <a:cs typeface="Helvetica Neue"/>
              </a:rPr>
              <a:t>PHASE 1 / BUILD &amp; OBSERVE</a:t>
            </a:r>
          </a:p>
        </p:txBody>
      </p:sp>
      <p:sp>
        <p:nvSpPr>
          <p:cNvPr id="2" name="title">
            <a:extLst xmlns:a="http://schemas.openxmlformats.org/drawingml/2006/main">
              <a:ext uri="{FF2B5EF4-FFF2-40B4-BE49-F238E27FC236}">
                <a16:creationId xmlns:a16="http://schemas.microsoft.com/office/drawing/2014/main" id="{7D5ED797-35CC-4D72-B29B-0B81753D9E30}"/>
              </a:ext>
            </a:extLst>
          </p:cNvPr>
          <p:cNvSpPr>
            <a:spLocks xmlns:a="http://schemas.openxmlformats.org/drawingml/2006/main" noGrp="1"/>
          </p:cNvSpPr>
          <p:nvPr/>
        </p:nvSpPr>
        <p:spPr>
          <a:xfrm xmlns:a="http://schemas.openxmlformats.org/drawingml/2006/main">
            <a:off x="609600" y="7905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5F8"/>
                </a:solidFill>
                <a:latin typeface="Helvetica Neue"/>
                <a:ea typeface="Helvetica Neue"/>
                <a:cs typeface="Helvetica Neue"/>
              </a:defRPr>
            </a:pPr>
            <a:r>
              <a:rPr sz="4050" b="1">
                <a:solidFill>
                  <a:srgbClr val="F3F5F8"/>
                </a:solidFill>
                <a:latin typeface="Helvetica Neue"/>
                <a:ea typeface="Helvetica Neue"/>
                <a:cs typeface="Helvetica Neue"/>
              </a:rPr>
              <a:t>One URL reaches both backends</a:t>
            </a:r>
          </a:p>
        </p:txBody>
      </p:sp>
      <p:sp>
        <p:nvSpPr>
          <p:cNvPr id="3" name="page">
            <a:extLst xmlns:a="http://schemas.openxmlformats.org/drawingml/2006/main">
              <a:ext uri="{FF2B5EF4-FFF2-40B4-BE49-F238E27FC236}">
                <a16:creationId xmlns:a16="http://schemas.microsoft.com/office/drawing/2014/main" id="{7D563FC5-DF0E-4F74-B8AA-FD696CBA62AE}"/>
              </a:ext>
            </a:extLst>
          </p:cNvPr>
          <p:cNvSpPr>
            <a:spLocks xmlns:a="http://schemas.openxmlformats.org/drawingml/2006/main" noGrp="1"/>
          </p:cNvSpPr>
          <p:nvPr/>
        </p:nvSpPr>
        <p:spPr>
          <a:xfrm xmlns:a="http://schemas.openxmlformats.org/drawingml/2006/main">
            <a:off x="10610850" y="63055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AB8CC"/>
                </a:solidFill>
                <a:latin typeface="Helvetica Neue"/>
                <a:ea typeface="Helvetica Neue"/>
                <a:cs typeface="Helvetica Neue"/>
              </a:defRPr>
            </a:pPr>
            <a:r>
              <a:rPr sz="1350" b="0">
                <a:solidFill>
                  <a:srgbClr val="AAB8CC"/>
                </a:solidFill>
                <a:latin typeface="Helvetica Neue"/>
                <a:ea typeface="Helvetica Neue"/>
                <a:cs typeface="Helvetica Neue"/>
              </a:rPr>
              <a:t>03 / 05</a:t>
            </a:r>
          </a:p>
        </p:txBody>
      </p:sp>
      <p:sp>
        <p:nvSpPr>
          <p:cNvPr id="4" name="backend-a">
            <a:extLst xmlns:a="http://schemas.openxmlformats.org/drawingml/2006/main">
              <a:ext uri="{FF2B5EF4-FFF2-40B4-BE49-F238E27FC236}">
                <a16:creationId xmlns:a16="http://schemas.microsoft.com/office/drawing/2014/main" id="{CD6C7AE6-EA61-4594-A8D5-A24C393F9428}"/>
              </a:ext>
            </a:extLst>
          </p:cNvPr>
          <p:cNvSpPr>
            <a:spLocks xmlns:a="http://schemas.openxmlformats.org/drawingml/2006/main" noGrp="1"/>
          </p:cNvSpPr>
          <p:nvPr/>
        </p:nvSpPr>
        <p:spPr>
          <a:xfrm xmlns:a="http://schemas.openxmlformats.org/drawingml/2006/main">
            <a:off x="609600" y="1819275"/>
            <a:ext cx="561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86B8FF"/>
                </a:solidFill>
                <a:latin typeface="Helvetica Neue"/>
                <a:ea typeface="Helvetica Neue"/>
                <a:cs typeface="Helvetica Neue"/>
              </a:defRPr>
            </a:pPr>
            <a:r>
              <a:rPr sz="2475" b="1">
                <a:solidFill>
                  <a:srgbClr val="86B8FF"/>
                </a:solidFill>
                <a:latin typeface="Helvetica Neue"/>
                <a:ea typeface="Helvetica Neue"/>
                <a:cs typeface="Helvetica Neue"/>
              </a:rPr>
              <a:t>Parul  /  A :3001</a:t>
            </a:r>
          </a:p>
        </p:txBody>
      </p:sp>
      <p:sp>
        <p:nvSpPr>
          <p:cNvPr id="5" name="backend-b">
            <a:extLst xmlns:a="http://schemas.openxmlformats.org/drawingml/2006/main">
              <a:ext uri="{FF2B5EF4-FFF2-40B4-BE49-F238E27FC236}">
                <a16:creationId xmlns:a16="http://schemas.microsoft.com/office/drawing/2014/main" id="{4F7A3E02-6512-4EC8-9BB4-398650CE1C88}"/>
              </a:ext>
            </a:extLst>
          </p:cNvPr>
          <p:cNvSpPr>
            <a:spLocks xmlns:a="http://schemas.openxmlformats.org/drawingml/2006/main" noGrp="1"/>
          </p:cNvSpPr>
          <p:nvPr/>
        </p:nvSpPr>
        <p:spPr>
          <a:xfrm xmlns:a="http://schemas.openxmlformats.org/drawingml/2006/main">
            <a:off x="6619875" y="18192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69E5C4"/>
                </a:solidFill>
                <a:latin typeface="Helvetica Neue"/>
                <a:ea typeface="Helvetica Neue"/>
                <a:cs typeface="Helvetica Neue"/>
              </a:defRPr>
            </a:pPr>
            <a:r>
              <a:rPr sz="2475" b="1">
                <a:solidFill>
                  <a:srgbClr val="69E5C4"/>
                </a:solidFill>
                <a:latin typeface="Helvetica Neue"/>
                <a:ea typeface="Helvetica Neue"/>
                <a:cs typeface="Helvetica Neue"/>
              </a:rPr>
              <a:t>Dhruv  /  B :3002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d00b5569a474bb5"/>
          <ns0:srcRect xmlns:ns0="http://schemas.openxmlformats.org/drawingml/2006/main" l="485" t="32732" r="32039" b="47101"/>
          <a:stretch xmlns:a="http://schemas.openxmlformats.org/drawingml/2006/main">
            <a:fillRect l="0" t="0" r="0" b="0"/>
          </a:stretch>
        </p:blipFill>
        <p:spPr>
          <a:xfrm xmlns:a="http://schemas.openxmlformats.org/drawingml/2006/main">
            <a:off x="609600" y="2609850"/>
            <a:ext cx="10477500" cy="2949152"/>
          </a:xfrm>
          <a:prstGeom xmlns:a="http://schemas.openxmlformats.org/drawingml/2006/main" prst="rect">
            <a:avLst/>
          </a:prstGeom>
        </p:spPr>
      </p:pic>
      <p:sp>
        <p:nvSpPr>
          <p:cNvPr id="7" name="rr">
            <a:extLst xmlns:a="http://schemas.openxmlformats.org/drawingml/2006/main">
              <a:ext uri="{FF2B5EF4-FFF2-40B4-BE49-F238E27FC236}">
                <a16:creationId xmlns:a16="http://schemas.microsoft.com/office/drawing/2014/main" id="{DE3D433D-902D-476C-9638-F42F3114E0BB}"/>
              </a:ext>
            </a:extLst>
          </p:cNvPr>
          <p:cNvSpPr>
            <a:spLocks xmlns:a="http://schemas.openxmlformats.org/drawingml/2006/main" noGrp="1"/>
          </p:cNvSpPr>
          <p:nvPr/>
        </p:nvSpPr>
        <p:spPr>
          <a:xfrm xmlns:a="http://schemas.openxmlformats.org/drawingml/2006/main">
            <a:off x="609600" y="58769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5F8"/>
                </a:solidFill>
                <a:latin typeface="Helvetica Neue"/>
                <a:ea typeface="Helvetica Neue"/>
                <a:cs typeface="Helvetica Neue"/>
              </a:defRPr>
            </a:pPr>
            <a:r>
              <a:rPr sz="2175" b="1">
                <a:solidFill>
                  <a:srgbClr val="F3F5F8"/>
                </a:solidFill>
                <a:latin typeface="Helvetica Neue"/>
                <a:ea typeface="Helvetica Neue"/>
                <a:cs typeface="Helvetica Neue"/>
              </a:rPr>
              <a:t>10 requests     5 responses from A     5 from B</a:t>
            </a:r>
          </a:p>
        </p:txBody>
      </p:sp>
    </p:spTree>
    <p:extLst>
      <p:ext uri="{BB962C8B-B14F-4D97-AF65-F5344CB8AC3E}">
        <p14:creationId xmlns:p14="http://schemas.microsoft.com/office/powerpoint/2010/main" val="743762475"/>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8" presetID="10" presetClass="entr" presetSubtype="0"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2" presetID="10" presetClass="entr" presetSubtype="0" fill="hold" nodeType="withEffect">
                            <p:stCondLst>
                              <p:cond delay="2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6" presetID="10" presetClass="entr" presetSubtype="0" fill="hold" nodeType="withEffect">
                            <p:stCondLst>
                              <p:cond delay="30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0A13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EE232CB0-1F40-45C4-9303-973C78BAEFB4}"/>
              </a:ext>
            </a:extLst>
          </p:cNvPr>
          <p:cNvSpPr>
            <a:spLocks xmlns:a="http://schemas.openxmlformats.org/drawingml/2006/main" noGrp="1"/>
          </p:cNvSpPr>
          <p:nvPr/>
        </p:nvSpPr>
        <p:spPr>
          <a:xfrm xmlns:a="http://schemas.openxmlformats.org/drawingml/2006/main">
            <a:off x="609600" y="2667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9E5C4"/>
                </a:solidFill>
                <a:latin typeface="Helvetica Neue"/>
                <a:ea typeface="Helvetica Neue"/>
                <a:cs typeface="Helvetica Neue"/>
              </a:defRPr>
            </a:pPr>
            <a:r>
              <a:rPr sz="1350" b="1">
                <a:solidFill>
                  <a:srgbClr val="69E5C4"/>
                </a:solidFill>
                <a:latin typeface="Helvetica Neue"/>
                <a:ea typeface="Helvetica Neue"/>
                <a:cs typeface="Helvetica Neue"/>
              </a:rPr>
              <a:t>PHASE 1 / BUILD &amp; OBSERVE</a:t>
            </a:r>
          </a:p>
        </p:txBody>
      </p:sp>
      <p:sp>
        <p:nvSpPr>
          <p:cNvPr id="2" name="title">
            <a:extLst xmlns:a="http://schemas.openxmlformats.org/drawingml/2006/main">
              <a:ext uri="{FF2B5EF4-FFF2-40B4-BE49-F238E27FC236}">
                <a16:creationId xmlns:a16="http://schemas.microsoft.com/office/drawing/2014/main" id="{5107111E-4AAB-4028-B3F6-C79E15D6CB4F}"/>
              </a:ext>
            </a:extLst>
          </p:cNvPr>
          <p:cNvSpPr>
            <a:spLocks xmlns:a="http://schemas.openxmlformats.org/drawingml/2006/main" noGrp="1"/>
          </p:cNvSpPr>
          <p:nvPr/>
        </p:nvSpPr>
        <p:spPr>
          <a:xfrm xmlns:a="http://schemas.openxmlformats.org/drawingml/2006/main">
            <a:off x="609600" y="7905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5F8"/>
                </a:solidFill>
                <a:latin typeface="Helvetica Neue"/>
                <a:ea typeface="Helvetica Neue"/>
                <a:cs typeface="Helvetica Neue"/>
              </a:defRPr>
            </a:pPr>
            <a:r>
              <a:rPr sz="4050" b="1">
                <a:solidFill>
                  <a:srgbClr val="F3F5F8"/>
                </a:solidFill>
                <a:latin typeface="Helvetica Neue"/>
                <a:ea typeface="Helvetica Neue"/>
                <a:cs typeface="Helvetica Neue"/>
              </a:rPr>
              <a:t>Caching: 200, then 304</a:t>
            </a:r>
          </a:p>
        </p:txBody>
      </p:sp>
      <p:sp>
        <p:nvSpPr>
          <p:cNvPr id="3" name="page">
            <a:extLst xmlns:a="http://schemas.openxmlformats.org/drawingml/2006/main">
              <a:ext uri="{FF2B5EF4-FFF2-40B4-BE49-F238E27FC236}">
                <a16:creationId xmlns:a16="http://schemas.microsoft.com/office/drawing/2014/main" id="{7F37AC83-13BF-4538-8A67-CD05EF6640E1}"/>
              </a:ext>
            </a:extLst>
          </p:cNvPr>
          <p:cNvSpPr>
            <a:spLocks xmlns:a="http://schemas.openxmlformats.org/drawingml/2006/main" noGrp="1"/>
          </p:cNvSpPr>
          <p:nvPr/>
        </p:nvSpPr>
        <p:spPr>
          <a:xfrm xmlns:a="http://schemas.openxmlformats.org/drawingml/2006/main">
            <a:off x="10610850" y="63055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AB8CC"/>
                </a:solidFill>
                <a:latin typeface="Helvetica Neue"/>
                <a:ea typeface="Helvetica Neue"/>
                <a:cs typeface="Helvetica Neue"/>
              </a:defRPr>
            </a:pPr>
            <a:r>
              <a:rPr sz="1350" b="0">
                <a:solidFill>
                  <a:srgbClr val="AAB8CC"/>
                </a:solidFill>
                <a:latin typeface="Helvetica Neue"/>
                <a:ea typeface="Helvetica Neue"/>
                <a:cs typeface="Helvetica Neue"/>
              </a:rPr>
              <a:t>04 / 05</a:t>
            </a:r>
          </a:p>
        </p:txBody>
      </p:sp>
      <p:sp>
        <p:nvSpPr>
          <p:cNvPr id="4" name="seconds">
            <a:extLst xmlns:a="http://schemas.openxmlformats.org/drawingml/2006/main">
              <a:ext uri="{FF2B5EF4-FFF2-40B4-BE49-F238E27FC236}">
                <a16:creationId xmlns:a16="http://schemas.microsoft.com/office/drawing/2014/main" id="{22EAC9C1-98F8-45DD-B0F7-23A6BEA28C00}"/>
              </a:ext>
            </a:extLst>
          </p:cNvPr>
          <p:cNvSpPr>
            <a:spLocks xmlns:a="http://schemas.openxmlformats.org/drawingml/2006/main" noGrp="1"/>
          </p:cNvSpPr>
          <p:nvPr/>
        </p:nvSpPr>
        <p:spPr>
          <a:xfrm xmlns:a="http://schemas.openxmlformats.org/drawingml/2006/main">
            <a:off x="609600" y="2143125"/>
            <a:ext cx="2952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69E5C4"/>
                </a:solidFill>
                <a:latin typeface="Helvetica Neue"/>
                <a:ea typeface="Helvetica Neue"/>
                <a:cs typeface="Helvetica Neue"/>
              </a:defRPr>
            </a:pPr>
            <a:r>
              <a:rPr sz="7650" b="1">
                <a:solidFill>
                  <a:srgbClr val="69E5C4"/>
                </a:solidFill>
                <a:latin typeface="Helvetica Neue"/>
                <a:ea typeface="Helvetica Neue"/>
                <a:cs typeface="Helvetica Neue"/>
              </a:rPr>
              <a:t>60s</a:t>
            </a:r>
          </a:p>
        </p:txBody>
      </p:sp>
      <p:sp>
        <p:nvSpPr>
          <p:cNvPr id="5" name="fresh">
            <a:extLst xmlns:a="http://schemas.openxmlformats.org/drawingml/2006/main">
              <a:ext uri="{FF2B5EF4-FFF2-40B4-BE49-F238E27FC236}">
                <a16:creationId xmlns:a16="http://schemas.microsoft.com/office/drawing/2014/main" id="{C48026DE-2A8F-44F5-9D8E-C40EE0DB68CF}"/>
              </a:ext>
            </a:extLst>
          </p:cNvPr>
          <p:cNvSpPr>
            <a:spLocks xmlns:a="http://schemas.openxmlformats.org/drawingml/2006/main" noGrp="1"/>
          </p:cNvSpPr>
          <p:nvPr/>
        </p:nvSpPr>
        <p:spPr>
          <a:xfrm xmlns:a="http://schemas.openxmlformats.org/drawingml/2006/main">
            <a:off x="657225" y="32956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3F5F8"/>
                </a:solidFill>
                <a:latin typeface="Helvetica Neue"/>
                <a:ea typeface="Helvetica Neue"/>
                <a:cs typeface="Helvetica Neue"/>
              </a:defRPr>
            </a:pPr>
            <a:r>
              <a:rPr sz="1950" b="0">
                <a:solidFill>
                  <a:srgbClr val="F3F5F8"/>
                </a:solidFill>
                <a:latin typeface="Helvetica Neue"/>
                <a:ea typeface="Helvetica Neue"/>
                <a:cs typeface="Helvetica Neue"/>
              </a:rPr>
              <a:t>Freshness</a:t>
            </a:r>
          </a:p>
          <a:p xmlns:a="http://schemas.openxmlformats.org/drawingml/2006/main">
            <a:pPr>
              <a:defRPr sz="1950" b="0">
                <a:solidFill>
                  <a:srgbClr val="F3F5F8"/>
                </a:solidFill>
                <a:latin typeface="Helvetica Neue"/>
                <a:ea typeface="Helvetica Neue"/>
                <a:cs typeface="Helvetica Neue"/>
              </a:defRPr>
            </a:pPr>
            <a:r>
              <a:rPr sz="1950" b="0">
                <a:solidFill>
                  <a:srgbClr val="F3F5F8"/>
                </a:solidFill>
                <a:latin typeface="Helvetica Neue"/>
                <a:ea typeface="Helvetica Neue"/>
                <a:cs typeface="Helvetica Neue"/>
              </a:rPr>
              <a:t>lifetime</a:t>
            </a:r>
          </a:p>
        </p:txBody>
      </p:sp>
      <p:sp>
        <p:nvSpPr>
          <p:cNvPr id="6" name="conditional">
            <a:extLst xmlns:a="http://schemas.openxmlformats.org/drawingml/2006/main">
              <a:ext uri="{FF2B5EF4-FFF2-40B4-BE49-F238E27FC236}">
                <a16:creationId xmlns:a16="http://schemas.microsoft.com/office/drawing/2014/main" id="{71029A9A-149E-4F04-8838-DE239D88B8E6}"/>
              </a:ext>
            </a:extLst>
          </p:cNvPr>
          <p:cNvSpPr>
            <a:spLocks xmlns:a="http://schemas.openxmlformats.org/drawingml/2006/main" noGrp="1"/>
          </p:cNvSpPr>
          <p:nvPr/>
        </p:nvSpPr>
        <p:spPr>
          <a:xfrm xmlns:a="http://schemas.openxmlformats.org/drawingml/2006/main">
            <a:off x="657225" y="4476750"/>
            <a:ext cx="219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6B8FF"/>
                </a:solidFill>
                <a:latin typeface="Helvetica Neue"/>
                <a:ea typeface="Helvetica Neue"/>
                <a:cs typeface="Helvetica Neue"/>
              </a:defRPr>
            </a:pPr>
            <a:r>
              <a:rPr sz="2025" b="1">
                <a:solidFill>
                  <a:srgbClr val="86B8FF"/>
                </a:solidFill>
                <a:latin typeface="Helvetica Neue"/>
                <a:ea typeface="Helvetica Neue"/>
                <a:cs typeface="Helvetica Neue"/>
              </a:rPr>
              <a:t>Same ETag</a:t>
            </a:r>
          </a:p>
          <a:p xmlns:a="http://schemas.openxmlformats.org/drawingml/2006/main">
            <a:pPr>
              <a:defRPr sz="2025" b="1">
                <a:solidFill>
                  <a:srgbClr val="86B8FF"/>
                </a:solidFill>
                <a:latin typeface="Helvetica Neue"/>
                <a:ea typeface="Helvetica Neue"/>
                <a:cs typeface="Helvetica Neue"/>
              </a:defRPr>
            </a:pPr>
            <a:r>
              <a:rPr sz="2025" b="1">
                <a:solidFill>
                  <a:srgbClr val="86B8FF"/>
                </a:solidFill>
                <a:latin typeface="Helvetica Neue"/>
                <a:ea typeface="Helvetica Neue"/>
                <a:cs typeface="Helvetica Neue"/>
              </a:rPr>
              <a:t>No body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9b46089a4ff45f6"/>
          <ns0:srcRect xmlns:ns0="http://schemas.openxmlformats.org/drawingml/2006/main" l="0" t="70076" r="20319" b="4293"/>
          <a:stretch xmlns:a="http://schemas.openxmlformats.org/drawingml/2006/main">
            <a:fillRect l="0" t="0" r="0" b="0"/>
          </a:stretch>
        </p:blipFill>
        <p:spPr>
          <a:xfrm xmlns:a="http://schemas.openxmlformats.org/drawingml/2006/main">
            <a:off x="2952750" y="2286000"/>
            <a:ext cx="8572500" cy="2900363"/>
          </a:xfrm>
          <a:prstGeom xmlns:a="http://schemas.openxmlformats.org/drawingml/2006/main" prst="rect">
            <a:avLst/>
          </a:prstGeom>
        </p:spPr>
      </p:pic>
      <p:sp>
        <p:nvSpPr>
          <p:cNvPr id="8" name="cache-caption">
            <a:extLst xmlns:a="http://schemas.openxmlformats.org/drawingml/2006/main">
              <a:ext uri="{FF2B5EF4-FFF2-40B4-BE49-F238E27FC236}">
                <a16:creationId xmlns:a16="http://schemas.microsoft.com/office/drawing/2014/main" id="{53E01389-5ECB-45DB-A36C-58CB83B79D4B}"/>
              </a:ext>
            </a:extLst>
          </p:cNvPr>
          <p:cNvSpPr>
            <a:spLocks xmlns:a="http://schemas.openxmlformats.org/drawingml/2006/main" noGrp="1"/>
          </p:cNvSpPr>
          <p:nvPr/>
        </p:nvSpPr>
        <p:spPr>
          <a:xfrm xmlns:a="http://schemas.openxmlformats.org/drawingml/2006/main">
            <a:off x="2952750" y="5400675"/>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AB8CC"/>
                </a:solidFill>
                <a:latin typeface="Helvetica Neue"/>
                <a:ea typeface="Helvetica Neue"/>
                <a:cs typeface="Helvetica Neue"/>
              </a:defRPr>
            </a:pPr>
            <a:r>
              <a:rPr sz="1800" b="0">
                <a:solidFill>
                  <a:srgbClr val="AAB8CC"/>
                </a:solidFill>
                <a:latin typeface="Helvetica Neue"/>
                <a:ea typeface="Helvetica Neue"/>
                <a:cs typeface="Helvetica Neue"/>
              </a:rPr>
              <a:t>Cache-Control + ETag + If-None-Match</a:t>
            </a:r>
          </a:p>
        </p:txBody>
      </p:sp>
      <p:sp>
        <p:nvSpPr>
          <p:cNvPr id="9" name="cache-status">
            <a:extLst xmlns:a="http://schemas.openxmlformats.org/drawingml/2006/main">
              <a:ext uri="{FF2B5EF4-FFF2-40B4-BE49-F238E27FC236}">
                <a16:creationId xmlns:a16="http://schemas.microsoft.com/office/drawing/2014/main" id="{20F35E00-76F9-402B-A6B6-E565C004E7D5}"/>
              </a:ext>
            </a:extLst>
          </p:cNvPr>
          <p:cNvSpPr>
            <a:spLocks xmlns:a="http://schemas.openxmlformats.org/drawingml/2006/main" noGrp="1"/>
          </p:cNvSpPr>
          <p:nvPr/>
        </p:nvSpPr>
        <p:spPr>
          <a:xfrm xmlns:a="http://schemas.openxmlformats.org/drawingml/2006/main">
            <a:off x="2952750" y="5800725"/>
            <a:ext cx="752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69E5C4"/>
                </a:solidFill>
                <a:latin typeface="Helvetica Neue"/>
                <a:ea typeface="Helvetica Neue"/>
                <a:cs typeface="Helvetica Neue"/>
              </a:defRPr>
            </a:pPr>
            <a:r>
              <a:rPr sz="2925" b="1">
                <a:solidFill>
                  <a:srgbClr val="69E5C4"/>
                </a:solidFill>
                <a:latin typeface="Helvetica Neue"/>
                <a:ea typeface="Helvetica Neue"/>
                <a:cs typeface="Helvetica Neue"/>
              </a:rPr>
              <a:t>304 Not Modified</a:t>
            </a:r>
          </a:p>
        </p:txBody>
      </p:sp>
    </p:spTree>
    <p:extLst>
      <p:ext uri="{BB962C8B-B14F-4D97-AF65-F5344CB8AC3E}">
        <p14:creationId xmlns:p14="http://schemas.microsoft.com/office/powerpoint/2010/main" val="2055457695"/>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8" presetID="10" presetClass="entr" presetSubtype="0"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2" presetID="10" presetClass="entr" presetSubtype="0" fill="hold" nodeType="withEffect">
                            <p:stCondLst>
                              <p:cond delay="2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6" presetID="10" presetClass="entr" presetSubtype="0" fill="hold" nodeType="withEffect">
                            <p:stCondLst>
                              <p:cond delay="3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20" presetID="10" presetClass="entr" presetSubtype="0" fill="hold" nodeType="withEffect">
                            <p:stCondLst>
                              <p:cond delay="4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4" presetID="10" presetClass="entr" presetSubtype="0" fill="hold" nodeType="withEffect">
                            <p:stCondLst>
                              <p:cond delay="5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0A13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0F5F2514-3E10-4E60-A2D6-E41FBDF8B5D5}"/>
              </a:ext>
            </a:extLst>
          </p:cNvPr>
          <p:cNvSpPr>
            <a:spLocks xmlns:a="http://schemas.openxmlformats.org/drawingml/2006/main" noGrp="1"/>
          </p:cNvSpPr>
          <p:nvPr/>
        </p:nvSpPr>
        <p:spPr>
          <a:xfrm xmlns:a="http://schemas.openxmlformats.org/drawingml/2006/main">
            <a:off x="609600" y="2667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9E5C4"/>
                </a:solidFill>
                <a:latin typeface="Helvetica Neue"/>
                <a:ea typeface="Helvetica Neue"/>
                <a:cs typeface="Helvetica Neue"/>
              </a:defRPr>
            </a:pPr>
            <a:r>
              <a:rPr sz="1350" b="1">
                <a:solidFill>
                  <a:srgbClr val="69E5C4"/>
                </a:solidFill>
                <a:latin typeface="Helvetica Neue"/>
                <a:ea typeface="Helvetica Neue"/>
                <a:cs typeface="Helvetica Neue"/>
              </a:rPr>
              <a:t>PHASE 1 / BUILD &amp; OBSERVE</a:t>
            </a:r>
          </a:p>
        </p:txBody>
      </p:sp>
      <p:sp>
        <p:nvSpPr>
          <p:cNvPr id="2" name="title">
            <a:extLst xmlns:a="http://schemas.openxmlformats.org/drawingml/2006/main">
              <a:ext uri="{FF2B5EF4-FFF2-40B4-BE49-F238E27FC236}">
                <a16:creationId xmlns:a16="http://schemas.microsoft.com/office/drawing/2014/main" id="{4AE63691-B228-4927-8394-DA1E4BB1BE85}"/>
              </a:ext>
            </a:extLst>
          </p:cNvPr>
          <p:cNvSpPr>
            <a:spLocks xmlns:a="http://schemas.openxmlformats.org/drawingml/2006/main" noGrp="1"/>
          </p:cNvSpPr>
          <p:nvPr/>
        </p:nvSpPr>
        <p:spPr>
          <a:xfrm xmlns:a="http://schemas.openxmlformats.org/drawingml/2006/main">
            <a:off x="609600" y="7905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5F8"/>
                </a:solidFill>
                <a:latin typeface="Helvetica Neue"/>
                <a:ea typeface="Helvetica Neue"/>
                <a:cs typeface="Helvetica Neue"/>
              </a:defRPr>
            </a:pPr>
            <a:r>
              <a:rPr sz="4050" b="1">
                <a:solidFill>
                  <a:srgbClr val="F3F5F8"/>
                </a:solidFill>
                <a:latin typeface="Helvetica Neue"/>
                <a:ea typeface="Helvetica Neue"/>
                <a:cs typeface="Helvetica Neue"/>
              </a:rPr>
              <a:t>The packets behind the response</a:t>
            </a:r>
          </a:p>
        </p:txBody>
      </p:sp>
      <p:sp>
        <p:nvSpPr>
          <p:cNvPr id="3" name="page">
            <a:extLst xmlns:a="http://schemas.openxmlformats.org/drawingml/2006/main">
              <a:ext uri="{FF2B5EF4-FFF2-40B4-BE49-F238E27FC236}">
                <a16:creationId xmlns:a16="http://schemas.microsoft.com/office/drawing/2014/main" id="{25309F34-20B6-42A2-84E6-B9CEB13CDEF3}"/>
              </a:ext>
            </a:extLst>
          </p:cNvPr>
          <p:cNvSpPr>
            <a:spLocks xmlns:a="http://schemas.openxmlformats.org/drawingml/2006/main" noGrp="1"/>
          </p:cNvSpPr>
          <p:nvPr/>
        </p:nvSpPr>
        <p:spPr>
          <a:xfrm xmlns:a="http://schemas.openxmlformats.org/drawingml/2006/main">
            <a:off x="10610850" y="63055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AB8CC"/>
                </a:solidFill>
                <a:latin typeface="Helvetica Neue"/>
                <a:ea typeface="Helvetica Neue"/>
                <a:cs typeface="Helvetica Neue"/>
              </a:defRPr>
            </a:pPr>
            <a:r>
              <a:rPr sz="1350" b="0">
                <a:solidFill>
                  <a:srgbClr val="AAB8CC"/>
                </a:solidFill>
                <a:latin typeface="Helvetica Neue"/>
                <a:ea typeface="Helvetica Neue"/>
                <a:cs typeface="Helvetica Neue"/>
              </a:rPr>
              <a:t>05 / 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a37f5ce74924b7d"/>
          <ns0:srcRect xmlns:ns0="http://schemas.openxmlformats.org/drawingml/2006/main" l="0" t="3490" r="4194" b="48866"/>
          <a:stretch xmlns:a="http://schemas.openxmlformats.org/drawingml/2006/main">
            <a:fillRect l="0" t="0" r="0" b="0"/>
          </a:stretch>
        </p:blipFill>
        <p:spPr>
          <a:xfrm xmlns:a="http://schemas.openxmlformats.org/drawingml/2006/main">
            <a:off x="609600" y="1857375"/>
            <a:ext cx="10972800" cy="2980671"/>
          </a:xfrm>
          <a:prstGeom xmlns:a="http://schemas.openxmlformats.org/drawingml/2006/main" prst="rect">
            <a:avLst/>
          </a:prstGeom>
        </p:spPr>
      </p:pic>
      <p:sp>
        <p:nvSpPr>
          <p:cNvPr id="5" name="tcp">
            <a:extLst xmlns:a="http://schemas.openxmlformats.org/drawingml/2006/main">
              <a:ext uri="{FF2B5EF4-FFF2-40B4-BE49-F238E27FC236}">
                <a16:creationId xmlns:a16="http://schemas.microsoft.com/office/drawing/2014/main" id="{25BA9D3E-E9EE-4DF8-BB89-C3C1DC67F003}"/>
              </a:ext>
            </a:extLst>
          </p:cNvPr>
          <p:cNvSpPr>
            <a:spLocks xmlns:a="http://schemas.openxmlformats.org/drawingml/2006/main" noGrp="1"/>
          </p:cNvSpPr>
          <p:nvPr/>
        </p:nvSpPr>
        <p:spPr>
          <a:xfrm xmlns:a="http://schemas.openxmlformats.org/drawingml/2006/main">
            <a:off x="609600" y="520065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9E5C4"/>
                </a:solidFill>
                <a:latin typeface="Helvetica Neue"/>
                <a:ea typeface="Helvetica Neue"/>
                <a:cs typeface="Helvetica Neue"/>
              </a:defRPr>
            </a:pPr>
            <a:r>
              <a:rPr sz="1950" b="1">
                <a:solidFill>
                  <a:srgbClr val="69E5C4"/>
                </a:solidFill>
                <a:latin typeface="Helvetica Neue"/>
                <a:ea typeface="Helvetica Neue"/>
                <a:cs typeface="Helvetica Neue"/>
              </a:rPr>
              <a:t>TCP</a:t>
            </a:r>
          </a:p>
        </p:txBody>
      </p:sp>
      <p:sp>
        <p:nvSpPr>
          <p:cNvPr id="6" name="tcp-flow">
            <a:extLst xmlns:a="http://schemas.openxmlformats.org/drawingml/2006/main">
              <a:ext uri="{FF2B5EF4-FFF2-40B4-BE49-F238E27FC236}">
                <a16:creationId xmlns:a16="http://schemas.microsoft.com/office/drawing/2014/main" id="{4B6381E2-8E45-4731-8B76-649FE6A5E0A5}"/>
              </a:ext>
            </a:extLst>
          </p:cNvPr>
          <p:cNvSpPr>
            <a:spLocks xmlns:a="http://schemas.openxmlformats.org/drawingml/2006/main" noGrp="1"/>
          </p:cNvSpPr>
          <p:nvPr/>
        </p:nvSpPr>
        <p:spPr>
          <a:xfrm xmlns:a="http://schemas.openxmlformats.org/drawingml/2006/main">
            <a:off x="2286000" y="52006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3F5F8"/>
                </a:solidFill>
                <a:latin typeface="Helvetica Neue"/>
                <a:ea typeface="Helvetica Neue"/>
                <a:cs typeface="Helvetica Neue"/>
              </a:defRPr>
            </a:pPr>
            <a:r>
              <a:rPr sz="2175" b="0">
                <a:solidFill>
                  <a:srgbClr val="F3F5F8"/>
                </a:solidFill>
                <a:latin typeface="Helvetica Neue"/>
                <a:ea typeface="Helvetica Neue"/>
                <a:cs typeface="Helvetica Neue"/>
              </a:rPr>
              <a:t>SYN    SYN-ACK    ACK</a:t>
            </a:r>
          </a:p>
        </p:txBody>
      </p:sp>
      <p:sp>
        <p:nvSpPr>
          <p:cNvPr id="7" name="tls">
            <a:extLst xmlns:a="http://schemas.openxmlformats.org/drawingml/2006/main">
              <a:ext uri="{FF2B5EF4-FFF2-40B4-BE49-F238E27FC236}">
                <a16:creationId xmlns:a16="http://schemas.microsoft.com/office/drawing/2014/main" id="{A8144D59-6980-47AE-BEC9-4935FC3AEC83}"/>
              </a:ext>
            </a:extLst>
          </p:cNvPr>
          <p:cNvSpPr>
            <a:spLocks xmlns:a="http://schemas.openxmlformats.org/drawingml/2006/main" noGrp="1"/>
          </p:cNvSpPr>
          <p:nvPr/>
        </p:nvSpPr>
        <p:spPr>
          <a:xfrm xmlns:a="http://schemas.openxmlformats.org/drawingml/2006/main">
            <a:off x="609600" y="57150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6B8FF"/>
                </a:solidFill>
                <a:latin typeface="Helvetica Neue"/>
                <a:ea typeface="Helvetica Neue"/>
                <a:cs typeface="Helvetica Neue"/>
              </a:defRPr>
            </a:pPr>
            <a:r>
              <a:rPr sz="1950" b="1">
                <a:solidFill>
                  <a:srgbClr val="86B8FF"/>
                </a:solidFill>
                <a:latin typeface="Helvetica Neue"/>
                <a:ea typeface="Helvetica Neue"/>
                <a:cs typeface="Helvetica Neue"/>
              </a:rPr>
              <a:t>TLS</a:t>
            </a:r>
          </a:p>
        </p:txBody>
      </p:sp>
      <p:sp>
        <p:nvSpPr>
          <p:cNvPr id="8" name="tls-flow">
            <a:extLst xmlns:a="http://schemas.openxmlformats.org/drawingml/2006/main">
              <a:ext uri="{FF2B5EF4-FFF2-40B4-BE49-F238E27FC236}">
                <a16:creationId xmlns:a16="http://schemas.microsoft.com/office/drawing/2014/main" id="{B6547C36-F872-4EA5-928B-04C8287AC3A5}"/>
              </a:ext>
            </a:extLst>
          </p:cNvPr>
          <p:cNvSpPr>
            <a:spLocks xmlns:a="http://schemas.openxmlformats.org/drawingml/2006/main" noGrp="1"/>
          </p:cNvSpPr>
          <p:nvPr/>
        </p:nvSpPr>
        <p:spPr>
          <a:xfrm xmlns:a="http://schemas.openxmlformats.org/drawingml/2006/main">
            <a:off x="2286000" y="5715000"/>
            <a:ext cx="9296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3F5F8"/>
                </a:solidFill>
                <a:latin typeface="Helvetica Neue"/>
                <a:ea typeface="Helvetica Neue"/>
                <a:cs typeface="Helvetica Neue"/>
              </a:defRPr>
            </a:pPr>
            <a:r>
              <a:rPr sz="2025" b="0">
                <a:solidFill>
                  <a:srgbClr val="F3F5F8"/>
                </a:solidFill>
                <a:latin typeface="Helvetica Neue"/>
                <a:ea typeface="Helvetica Neue"/>
                <a:cs typeface="Helvetica Neue"/>
              </a:rPr>
              <a:t>Hello + certificate    Encrypted application data</a:t>
            </a:r>
          </a:p>
        </p:txBody>
      </p:sp>
      <p:sp>
        <p:nvSpPr>
          <p:cNvPr id="9" name="capture-caption">
            <a:extLst xmlns:a="http://schemas.openxmlformats.org/drawingml/2006/main">
              <a:ext uri="{FF2B5EF4-FFF2-40B4-BE49-F238E27FC236}">
                <a16:creationId xmlns:a16="http://schemas.microsoft.com/office/drawing/2014/main" id="{7724488B-E77C-4A17-942D-62A247D197ED}"/>
              </a:ext>
            </a:extLst>
          </p:cNvPr>
          <p:cNvSpPr>
            <a:spLocks xmlns:a="http://schemas.openxmlformats.org/drawingml/2006/main" noGrp="1"/>
          </p:cNvSpPr>
          <p:nvPr/>
        </p:nvSpPr>
        <p:spPr>
          <a:xfrm xmlns:a="http://schemas.openxmlformats.org/drawingml/2006/main">
            <a:off x="609600" y="63150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8CC"/>
                </a:solidFill>
                <a:latin typeface="Helvetica Neue"/>
                <a:ea typeface="Helvetica Neue"/>
                <a:cs typeface="Helvetica Neue"/>
              </a:defRPr>
            </a:pPr>
            <a:r>
              <a:rPr sz="1500" b="0">
                <a:solidFill>
                  <a:srgbClr val="AAB8CC"/>
                </a:solidFill>
                <a:latin typeface="Helvetica Neue"/>
                <a:ea typeface="Helvetica Neue"/>
                <a:cs typeface="Helvetica Neue"/>
              </a:rPr>
              <a:t>532 real packets saved in phase1.pcapng</a:t>
            </a:r>
          </a:p>
        </p:txBody>
      </p:sp>
    </p:spTree>
    <p:extLst>
      <p:ext uri="{BB962C8B-B14F-4D97-AF65-F5344CB8AC3E}">
        <p14:creationId xmlns:p14="http://schemas.microsoft.com/office/powerpoint/2010/main" val="1435483910"/>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8" presetID="10" presetClass="entr" presetSubtype="0" fill="hold"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2" presetID="10" presetClass="entr" presetSubtype="0" fill="hold" nodeType="withEffect">
                            <p:stCondLst>
                              <p:cond delay="2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6" presetID="10" presetClass="entr" presetSubtype="0" fill="hold" nodeType="withEffect">
                            <p:stCondLst>
                              <p:cond delay="3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20" presetID="10" presetClass="entr" presetSubtype="0" fill="hold" nodeType="withEffect">
                            <p:stCondLst>
                              <p:cond delay="4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4" presetID="10" presetClass="entr" presetSubtype="0" fill="hold" nodeType="withEffect">
                            <p:stCondLst>
                              <p:cond delay="5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2026-10-05T17:23:35.0660000Z</dcterms:created>
  <dcterms:modified xsi:type="dcterms:W3CDTF">2026-10-05T17:23:35.0660000Z</dcterms:modified>
</coreProperties>
</file>